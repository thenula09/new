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8" r:id="rId3"/>
    <p:sldId id="259" r:id="rId4"/>
    <p:sldId id="260" r:id="rId5"/>
    <p:sldId id="264" r:id="rId6"/>
    <p:sldId id="267" r:id="rId7"/>
    <p:sldId id="269" r:id="rId8"/>
    <p:sldId id="270" r:id="rId9"/>
    <p:sldId id="265" r:id="rId10"/>
    <p:sldId id="266" r:id="rId11"/>
    <p:sldId id="263" r:id="rId12"/>
    <p:sldId id="261" r:id="rId13"/>
    <p:sldId id="262" r:id="rId14"/>
    <p:sldId id="271" r:id="rId15"/>
    <p:sldId id="272" r:id="rId16"/>
    <p:sldId id="273" r:id="rId17"/>
    <p:sldId id="274" r:id="rId18"/>
    <p:sldId id="275" r:id="rId19"/>
    <p:sldId id="276" r:id="rId20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70" d="100"/>
          <a:sy n="70" d="100"/>
        </p:scale>
        <p:origin x="642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641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296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439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11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304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50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674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5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478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307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318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87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8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6.png"/><Relationship Id="rId7" Type="http://schemas.openxmlformats.org/officeDocument/2006/relationships/image" Target="../media/image3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hyperlink" Target="http://outervision.com/power-supply-calculator" TargetMode="External"/><Relationship Id="rId5" Type="http://schemas.openxmlformats.org/officeDocument/2006/relationships/image" Target="../media/image22.png"/><Relationship Id="rId10" Type="http://schemas.openxmlformats.org/officeDocument/2006/relationships/image" Target="../media/image33.png"/><Relationship Id="rId4" Type="http://schemas.openxmlformats.org/officeDocument/2006/relationships/image" Target="../media/image4.png"/><Relationship Id="rId9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5.jpg"/><Relationship Id="rId7" Type="http://schemas.openxmlformats.org/officeDocument/2006/relationships/image" Target="../media/image4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2.png"/><Relationship Id="rId4" Type="http://schemas.openxmlformats.org/officeDocument/2006/relationships/image" Target="../media/image36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4.png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jpg"/><Relationship Id="rId5" Type="http://schemas.openxmlformats.org/officeDocument/2006/relationships/image" Target="../media/image43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4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jpg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jpg"/><Relationship Id="rId5" Type="http://schemas.openxmlformats.org/officeDocument/2006/relationships/image" Target="../media/image50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4636" y="1343230"/>
            <a:ext cx="6424930" cy="7059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ts val="5400"/>
              </a:lnSpc>
              <a:spcBef>
                <a:spcPts val="380"/>
              </a:spcBef>
            </a:pPr>
            <a:r>
              <a:rPr sz="5000" dirty="0" smtClean="0"/>
              <a:t>Computer</a:t>
            </a:r>
            <a:r>
              <a:rPr sz="5000" spc="-155" dirty="0" smtClean="0"/>
              <a:t> </a:t>
            </a:r>
            <a:r>
              <a:rPr sz="5000" spc="-10" dirty="0" smtClean="0"/>
              <a:t>Hardware</a:t>
            </a:r>
            <a:endParaRPr sz="5000" dirty="0"/>
          </a:p>
        </p:txBody>
      </p:sp>
      <p:grpSp>
        <p:nvGrpSpPr>
          <p:cNvPr id="4" name="object 4"/>
          <p:cNvGrpSpPr/>
          <p:nvPr/>
        </p:nvGrpSpPr>
        <p:grpSpPr>
          <a:xfrm>
            <a:off x="0" y="5292852"/>
            <a:ext cx="12192000" cy="1565275"/>
            <a:chOff x="0" y="5292852"/>
            <a:chExt cx="12192000" cy="1565275"/>
          </a:xfrm>
        </p:grpSpPr>
        <p:sp>
          <p:nvSpPr>
            <p:cNvPr id="5" name="object 5"/>
            <p:cNvSpPr/>
            <p:nvPr/>
          </p:nvSpPr>
          <p:spPr>
            <a:xfrm>
              <a:off x="5582411" y="5292852"/>
              <a:ext cx="6609715" cy="1565275"/>
            </a:xfrm>
            <a:custGeom>
              <a:avLst/>
              <a:gdLst/>
              <a:ahLst/>
              <a:cxnLst/>
              <a:rect l="l" t="t" r="r" b="b"/>
              <a:pathLst>
                <a:path w="6609715" h="1565275">
                  <a:moveTo>
                    <a:pt x="6609588" y="0"/>
                  </a:moveTo>
                  <a:lnTo>
                    <a:pt x="1186688" y="0"/>
                  </a:lnTo>
                  <a:lnTo>
                    <a:pt x="1185926" y="1651"/>
                  </a:lnTo>
                  <a:lnTo>
                    <a:pt x="724280" y="1651"/>
                  </a:lnTo>
                  <a:lnTo>
                    <a:pt x="0" y="1565148"/>
                  </a:lnTo>
                  <a:lnTo>
                    <a:pt x="6609588" y="1565148"/>
                  </a:lnTo>
                  <a:lnTo>
                    <a:pt x="6609588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292852"/>
              <a:ext cx="6144895" cy="1565275"/>
            </a:xfrm>
            <a:custGeom>
              <a:avLst/>
              <a:gdLst/>
              <a:ahLst/>
              <a:cxnLst/>
              <a:rect l="l" t="t" r="r" b="b"/>
              <a:pathLst>
                <a:path w="6144895" h="1565275">
                  <a:moveTo>
                    <a:pt x="6144768" y="0"/>
                  </a:moveTo>
                  <a:lnTo>
                    <a:pt x="0" y="0"/>
                  </a:lnTo>
                  <a:lnTo>
                    <a:pt x="0" y="1565148"/>
                  </a:lnTo>
                  <a:lnTo>
                    <a:pt x="5419725" y="1565148"/>
                  </a:lnTo>
                  <a:lnTo>
                    <a:pt x="6144768" y="0"/>
                  </a:lnTo>
                  <a:close/>
                </a:path>
              </a:pathLst>
            </a:custGeom>
            <a:solidFill>
              <a:srgbClr val="B4B4B4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129898" y="638108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70038" y="1346733"/>
            <a:ext cx="4741164" cy="36179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679802" y="2049192"/>
            <a:ext cx="4495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 smtClean="0"/>
              <a:t>Introduction to Computer Science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000" y="5844656"/>
            <a:ext cx="30550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400" dirty="0" smtClean="0"/>
              <a:t>Lecturer : </a:t>
            </a:r>
            <a:r>
              <a:rPr lang="en-US" sz="2400" dirty="0" err="1" smtClean="0"/>
              <a:t>Thilina</a:t>
            </a:r>
            <a:r>
              <a:rPr lang="en-US" sz="2400" dirty="0" smtClean="0"/>
              <a:t> </a:t>
            </a:r>
            <a:r>
              <a:rPr lang="en-US" sz="2400" dirty="0" err="1" smtClean="0"/>
              <a:t>Soysa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21589"/>
            <a:ext cx="45180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Module</a:t>
            </a:r>
            <a:r>
              <a:rPr spc="-50" dirty="0"/>
              <a:t> </a:t>
            </a:r>
            <a:r>
              <a:rPr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73459" y="6431686"/>
            <a:ext cx="101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1539" y="1398778"/>
            <a:ext cx="11148061" cy="41646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94665" marR="30480" indent="-457200" algn="just">
              <a:lnSpc>
                <a:spcPct val="150000"/>
              </a:lnSpc>
              <a:spcBef>
                <a:spcPts val="95"/>
              </a:spcBef>
              <a:buFont typeface="+mj-lt"/>
              <a:buAutoNum type="arabicPeriod"/>
              <a:tabLst>
                <a:tab pos="267335" algn="l"/>
              </a:tabLst>
            </a:pPr>
            <a:r>
              <a:rPr lang="en-US" sz="2200" spc="-5" dirty="0" smtClean="0">
                <a:solidFill>
                  <a:schemeClr val="bg1">
                    <a:lumMod val="65000"/>
                  </a:schemeClr>
                </a:solidFill>
                <a:latin typeface="Times New Roman"/>
                <a:cs typeface="Times New Roman"/>
              </a:rPr>
              <a:t>Explain the different number systems and how data is represented within the computer system</a:t>
            </a:r>
          </a:p>
          <a:p>
            <a:pPr marL="494665" marR="30480" indent="-457200" algn="just">
              <a:lnSpc>
                <a:spcPct val="150000"/>
              </a:lnSpc>
              <a:spcBef>
                <a:spcPts val="95"/>
              </a:spcBef>
              <a:buFont typeface="+mj-lt"/>
              <a:buAutoNum type="arabicPeriod"/>
              <a:tabLst>
                <a:tab pos="267335" algn="l"/>
              </a:tabLst>
            </a:pPr>
            <a:r>
              <a:rPr lang="en-US" sz="2200" spc="-5" dirty="0" smtClean="0">
                <a:latin typeface="Times New Roman"/>
                <a:cs typeface="Times New Roman"/>
              </a:rPr>
              <a:t>Select the appropriate computer components to build, repair, or upgrade personal computers</a:t>
            </a:r>
          </a:p>
          <a:p>
            <a:pPr marL="494665" marR="30480" indent="-457200" algn="just">
              <a:lnSpc>
                <a:spcPct val="150000"/>
              </a:lnSpc>
              <a:spcBef>
                <a:spcPts val="95"/>
              </a:spcBef>
              <a:buFont typeface="+mj-lt"/>
              <a:buAutoNum type="arabicPeriod"/>
              <a:tabLst>
                <a:tab pos="267335" algn="l"/>
              </a:tabLst>
            </a:pPr>
            <a:r>
              <a:rPr lang="en-US" sz="2200" spc="-5" dirty="0" smtClean="0">
                <a:latin typeface="Times New Roman"/>
                <a:cs typeface="Times New Roman"/>
              </a:rPr>
              <a:t>Explain how to correctly use tools and safely work in a lab</a:t>
            </a:r>
          </a:p>
          <a:p>
            <a:pPr marL="494665" marR="30480" indent="-457200" algn="just">
              <a:lnSpc>
                <a:spcPct val="150000"/>
              </a:lnSpc>
              <a:spcBef>
                <a:spcPts val="95"/>
              </a:spcBef>
              <a:buFont typeface="+mj-lt"/>
              <a:buAutoNum type="arabicPeriod"/>
              <a:tabLst>
                <a:tab pos="267335" algn="l"/>
              </a:tabLst>
            </a:pPr>
            <a:r>
              <a:rPr lang="en-US" sz="2200" spc="-5" dirty="0" smtClean="0">
                <a:solidFill>
                  <a:schemeClr val="bg1">
                    <a:lumMod val="65000"/>
                  </a:schemeClr>
                </a:solidFill>
                <a:latin typeface="Times New Roman"/>
                <a:cs typeface="Times New Roman"/>
              </a:rPr>
              <a:t>Explain Software and how it executes on software</a:t>
            </a:r>
          </a:p>
          <a:p>
            <a:pPr marL="494665" marR="30480" indent="-457200" algn="just">
              <a:lnSpc>
                <a:spcPct val="150000"/>
              </a:lnSpc>
              <a:spcBef>
                <a:spcPts val="95"/>
              </a:spcBef>
              <a:buFont typeface="+mj-lt"/>
              <a:buAutoNum type="arabicPeriod"/>
              <a:tabLst>
                <a:tab pos="267335" algn="l"/>
              </a:tabLst>
            </a:pPr>
            <a:r>
              <a:rPr lang="en-US" sz="2200" spc="-5" dirty="0" smtClean="0">
                <a:solidFill>
                  <a:schemeClr val="bg1">
                    <a:lumMod val="65000"/>
                  </a:schemeClr>
                </a:solidFill>
                <a:latin typeface="Times New Roman"/>
                <a:cs typeface="Times New Roman"/>
              </a:rPr>
              <a:t>Explain the concept of network communications</a:t>
            </a:r>
          </a:p>
          <a:p>
            <a:pPr marL="494665" marR="30480" indent="-457200" algn="just">
              <a:lnSpc>
                <a:spcPct val="150000"/>
              </a:lnSpc>
              <a:spcBef>
                <a:spcPts val="95"/>
              </a:spcBef>
              <a:buFont typeface="+mj-lt"/>
              <a:buAutoNum type="arabicPeriod"/>
              <a:tabLst>
                <a:tab pos="267335" algn="l"/>
              </a:tabLst>
            </a:pPr>
            <a:r>
              <a:rPr lang="en-US" sz="2200" spc="-5" dirty="0" smtClean="0">
                <a:solidFill>
                  <a:schemeClr val="bg1">
                    <a:lumMod val="65000"/>
                  </a:schemeClr>
                </a:solidFill>
                <a:latin typeface="Times New Roman"/>
                <a:cs typeface="Times New Roman"/>
              </a:rPr>
              <a:t>Configure devices to connect to the Internet</a:t>
            </a:r>
          </a:p>
          <a:p>
            <a:pPr marL="494665" marR="30480" indent="-457200" algn="just">
              <a:lnSpc>
                <a:spcPct val="150000"/>
              </a:lnSpc>
              <a:spcBef>
                <a:spcPts val="95"/>
              </a:spcBef>
              <a:buFont typeface="+mj-lt"/>
              <a:buAutoNum type="arabicPeriod"/>
              <a:tabLst>
                <a:tab pos="267335" algn="l"/>
              </a:tabLst>
            </a:pPr>
            <a:r>
              <a:rPr lang="en-US" sz="2200" spc="-5" dirty="0" smtClean="0">
                <a:solidFill>
                  <a:schemeClr val="bg1">
                    <a:lumMod val="65000"/>
                  </a:schemeClr>
                </a:solidFill>
                <a:latin typeface="Times New Roman"/>
                <a:cs typeface="Times New Roman"/>
              </a:rPr>
              <a:t>Explain basic concepts and use of Multimedia</a:t>
            </a:r>
          </a:p>
          <a:p>
            <a:pPr marL="494665" marR="30480" indent="-457200" algn="just">
              <a:lnSpc>
                <a:spcPct val="150000"/>
              </a:lnSpc>
              <a:spcBef>
                <a:spcPts val="95"/>
              </a:spcBef>
              <a:buFont typeface="+mj-lt"/>
              <a:buAutoNum type="arabicPeriod"/>
              <a:tabLst>
                <a:tab pos="267335" algn="l"/>
              </a:tabLst>
            </a:pPr>
            <a:r>
              <a:rPr lang="en-US" sz="2200" spc="-5" dirty="0" smtClean="0">
                <a:solidFill>
                  <a:schemeClr val="bg1">
                    <a:lumMod val="65000"/>
                  </a:schemeClr>
                </a:solidFill>
                <a:latin typeface="Times New Roman"/>
                <a:cs typeface="Times New Roman"/>
              </a:rPr>
              <a:t>Apply the logic for computer programs</a:t>
            </a:r>
            <a:endParaRPr sz="2200" dirty="0">
              <a:solidFill>
                <a:schemeClr val="bg1">
                  <a:lumMod val="65000"/>
                </a:schemeClr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59968"/>
            <a:ext cx="30638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Int</a:t>
            </a:r>
            <a:r>
              <a:rPr spc="-80" dirty="0"/>
              <a:t>r</a:t>
            </a:r>
            <a:r>
              <a:rPr dirty="0"/>
              <a:t>oducti</a:t>
            </a:r>
            <a:r>
              <a:rPr spc="10" dirty="0"/>
              <a:t>o</a:t>
            </a:r>
            <a:r>
              <a:rPr dirty="0"/>
              <a:t>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8579"/>
            <a:ext cx="7782559" cy="349647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dirty="0">
                <a:latin typeface="Times New Roman"/>
                <a:cs typeface="Times New Roman"/>
              </a:rPr>
              <a:t>Computer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System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consists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three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parts;</a:t>
            </a:r>
            <a:endParaRPr sz="2600" dirty="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259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Times New Roman"/>
                <a:cs typeface="Times New Roman"/>
              </a:rPr>
              <a:t>Hardware</a:t>
            </a:r>
            <a:endParaRPr sz="2200" dirty="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Times New Roman"/>
                <a:cs typeface="Times New Roman"/>
              </a:rPr>
              <a:t>Software</a:t>
            </a:r>
            <a:endParaRPr sz="2200" dirty="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Times New Roman"/>
                <a:cs typeface="Times New Roman"/>
              </a:rPr>
              <a:t>Live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ware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(Users)</a:t>
            </a:r>
            <a:endParaRPr sz="2200" dirty="0">
              <a:latin typeface="Times New Roman"/>
              <a:cs typeface="Times New Roman"/>
            </a:endParaRPr>
          </a:p>
          <a:p>
            <a:pPr marL="241300" marR="5080" indent="-229235">
              <a:lnSpc>
                <a:spcPts val="2810"/>
              </a:lnSpc>
              <a:spcBef>
                <a:spcPts val="1030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dirty="0">
                <a:latin typeface="Times New Roman"/>
                <a:cs typeface="Times New Roman"/>
              </a:rPr>
              <a:t>Computer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Hardware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can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broken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down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into </a:t>
            </a:r>
            <a:r>
              <a:rPr sz="2600" spc="-5" dirty="0">
                <a:latin typeface="Times New Roman"/>
                <a:cs typeface="Times New Roman"/>
              </a:rPr>
              <a:t>three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main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parts:</a:t>
            </a:r>
            <a:endParaRPr sz="2600" dirty="0">
              <a:latin typeface="Times New Roman"/>
              <a:cs typeface="Times New Roman"/>
            </a:endParaRPr>
          </a:p>
          <a:p>
            <a:pPr marL="768350" lvl="1" indent="-29908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768350" algn="l"/>
                <a:tab pos="768985" algn="l"/>
              </a:tabLst>
            </a:pPr>
            <a:r>
              <a:rPr sz="2200" spc="-5" dirty="0">
                <a:latin typeface="Times New Roman"/>
                <a:cs typeface="Times New Roman"/>
              </a:rPr>
              <a:t>CPU</a:t>
            </a:r>
            <a:endParaRPr sz="2200" dirty="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Times New Roman"/>
                <a:cs typeface="Times New Roman"/>
              </a:rPr>
              <a:t>Memory</a:t>
            </a:r>
            <a:endParaRPr sz="2200" dirty="0">
              <a:latin typeface="Times New Roman"/>
              <a:cs typeface="Times New Roman"/>
            </a:endParaRPr>
          </a:p>
          <a:p>
            <a:pPr marL="768350" lvl="1" indent="-299085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768350" algn="l"/>
                <a:tab pos="768985" algn="l"/>
              </a:tabLst>
            </a:pPr>
            <a:r>
              <a:rPr sz="2200" spc="-10" dirty="0" smtClean="0">
                <a:latin typeface="Times New Roman"/>
                <a:cs typeface="Times New Roman"/>
              </a:rPr>
              <a:t>I/O</a:t>
            </a:r>
            <a:endParaRPr sz="2200" dirty="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8763" y="1231391"/>
            <a:ext cx="11250295" cy="5260975"/>
            <a:chOff x="778763" y="1231391"/>
            <a:chExt cx="11250295" cy="52609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763" y="1272501"/>
              <a:ext cx="3678936" cy="15853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199" y="1312163"/>
              <a:ext cx="3564636" cy="457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86456" y="1318221"/>
              <a:ext cx="4486656" cy="1585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5891" y="1357883"/>
              <a:ext cx="4372356" cy="457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40495" y="1231391"/>
              <a:ext cx="3488436" cy="21976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40495" y="4294631"/>
              <a:ext cx="3299459" cy="21976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279" y="659968"/>
            <a:ext cx="66922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Computer</a:t>
            </a:r>
            <a:r>
              <a:rPr spc="-140" dirty="0"/>
              <a:t> </a:t>
            </a:r>
            <a:r>
              <a:rPr dirty="0"/>
              <a:t>Basic</a:t>
            </a:r>
            <a:r>
              <a:rPr spc="-30" dirty="0"/>
              <a:t> </a:t>
            </a:r>
            <a:r>
              <a:rPr dirty="0"/>
              <a:t>Operations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78763" y="1272501"/>
            <a:ext cx="8575675" cy="5381625"/>
            <a:chOff x="778763" y="1272501"/>
            <a:chExt cx="8575675" cy="53816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763" y="1272501"/>
              <a:ext cx="3678936" cy="158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199" y="1312163"/>
              <a:ext cx="3564636" cy="457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86456" y="1318221"/>
              <a:ext cx="4486656" cy="15853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5891" y="1357883"/>
              <a:ext cx="4372356" cy="4572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69463" y="1479803"/>
              <a:ext cx="6784848" cy="51739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26440"/>
            <a:ext cx="60242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Internal</a:t>
            </a:r>
            <a:r>
              <a:rPr spc="-40" dirty="0"/>
              <a:t> </a:t>
            </a:r>
            <a:r>
              <a:rPr dirty="0"/>
              <a:t>PC</a:t>
            </a:r>
            <a:r>
              <a:rPr spc="-15" dirty="0"/>
              <a:t> </a:t>
            </a:r>
            <a:r>
              <a:rPr dirty="0"/>
              <a:t>Components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9294" y="1687220"/>
            <a:ext cx="6978015" cy="453771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Motherboards</a:t>
            </a:r>
            <a:endParaRPr sz="2200" dirty="0">
              <a:latin typeface="Times New Roman"/>
              <a:cs typeface="Times New Roman"/>
            </a:endParaRPr>
          </a:p>
          <a:p>
            <a:pPr marL="756285" lvl="1" indent="-287655">
              <a:lnSpc>
                <a:spcPct val="100000"/>
              </a:lnSpc>
              <a:spcBef>
                <a:spcPts val="244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Backbone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computer</a:t>
            </a:r>
            <a:endParaRPr sz="2200" dirty="0">
              <a:latin typeface="Times New Roman"/>
              <a:cs typeface="Times New Roman"/>
            </a:endParaRPr>
          </a:p>
          <a:p>
            <a:pPr marL="756285" lvl="1" indent="-287655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Interconnects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computer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components</a:t>
            </a:r>
            <a:endParaRPr sz="22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CPU</a:t>
            </a:r>
            <a:endParaRPr sz="2200" dirty="0">
              <a:latin typeface="Times New Roman"/>
              <a:cs typeface="Times New Roman"/>
            </a:endParaRPr>
          </a:p>
          <a:p>
            <a:pPr marL="756285" lvl="1" indent="-28765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brain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computer</a:t>
            </a:r>
            <a:endParaRPr sz="2200" dirty="0">
              <a:latin typeface="Times New Roman"/>
              <a:cs typeface="Times New Roman"/>
            </a:endParaRPr>
          </a:p>
          <a:p>
            <a:pPr marL="756285" lvl="1" indent="-28765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Most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processing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 </a:t>
            </a:r>
            <a:r>
              <a:rPr sz="2200" dirty="0">
                <a:latin typeface="Times New Roman"/>
                <a:cs typeface="Times New Roman"/>
              </a:rPr>
              <a:t>done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by 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CPU</a:t>
            </a:r>
            <a:endParaRPr sz="22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Cooling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Systems</a:t>
            </a:r>
            <a:endParaRPr sz="2200" dirty="0">
              <a:latin typeface="Times New Roman"/>
              <a:cs typeface="Times New Roman"/>
            </a:endParaRPr>
          </a:p>
          <a:p>
            <a:pPr marL="756285" lvl="1" indent="-28765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Dissipates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heat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generated</a:t>
            </a:r>
            <a:r>
              <a:rPr sz="2200" dirty="0">
                <a:latin typeface="Times New Roman"/>
                <a:cs typeface="Times New Roman"/>
              </a:rPr>
              <a:t> by</a:t>
            </a:r>
            <a:r>
              <a:rPr sz="2200" spc="-5" dirty="0">
                <a:latin typeface="Times New Roman"/>
                <a:cs typeface="Times New Roman"/>
              </a:rPr>
              <a:t> computer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components.</a:t>
            </a:r>
            <a:endParaRPr sz="22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latin typeface="Times New Roman"/>
                <a:cs typeface="Times New Roman"/>
              </a:rPr>
              <a:t>Memory</a:t>
            </a:r>
            <a:r>
              <a:rPr sz="2200" spc="-5" dirty="0">
                <a:latin typeface="Times New Roman"/>
                <a:cs typeface="Times New Roman"/>
              </a:rPr>
              <a:t> (ROM and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RAM)</a:t>
            </a:r>
            <a:endParaRPr sz="2200" dirty="0">
              <a:latin typeface="Times New Roman"/>
              <a:cs typeface="Times New Roman"/>
            </a:endParaRPr>
          </a:p>
          <a:p>
            <a:pPr marL="756285" lvl="1" indent="-28765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RAM: Stores data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temporarily,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aiding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processing</a:t>
            </a:r>
            <a:endParaRPr sz="2200" dirty="0">
              <a:latin typeface="Times New Roman"/>
              <a:cs typeface="Times New Roman"/>
            </a:endParaRPr>
          </a:p>
          <a:p>
            <a:pPr marL="756285" lvl="1" indent="-287655">
              <a:lnSpc>
                <a:spcPts val="2510"/>
              </a:lnSpc>
              <a:spcBef>
                <a:spcPts val="244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ROM: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Stores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data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permanently;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often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storing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firmware</a:t>
            </a:r>
            <a:endParaRPr sz="2200" dirty="0">
              <a:latin typeface="Times New Roman"/>
              <a:cs typeface="Times New Roman"/>
            </a:endParaRPr>
          </a:p>
          <a:p>
            <a:pPr marL="756285">
              <a:lnSpc>
                <a:spcPts val="2510"/>
              </a:lnSpc>
            </a:pP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low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level programs</a:t>
            </a:r>
            <a:endParaRPr sz="2200" dirty="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1727" y="1418805"/>
            <a:ext cx="11122660" cy="5144135"/>
            <a:chOff x="871727" y="1418805"/>
            <a:chExt cx="11122660" cy="51441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1727" y="1418805"/>
              <a:ext cx="3678936" cy="15853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1163" y="1458468"/>
              <a:ext cx="3564636" cy="457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77895" y="1464525"/>
              <a:ext cx="4488180" cy="1585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37332" y="1504188"/>
              <a:ext cx="4373880" cy="457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64651" y="1458468"/>
              <a:ext cx="3512820" cy="26548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67571" y="4486656"/>
              <a:ext cx="3226307" cy="20756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26440"/>
            <a:ext cx="667448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Motherboard</a:t>
            </a:r>
            <a:r>
              <a:rPr spc="-55" dirty="0"/>
              <a:t> </a:t>
            </a:r>
            <a:r>
              <a:rPr dirty="0"/>
              <a:t>Form</a:t>
            </a:r>
            <a:r>
              <a:rPr spc="-5" dirty="0"/>
              <a:t> </a:t>
            </a:r>
            <a:r>
              <a:rPr dirty="0"/>
              <a:t>Factors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01876"/>
            <a:ext cx="9135745" cy="4799391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96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form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factor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motherboards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pertains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 the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size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shape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 the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board.</a:t>
            </a:r>
            <a:endParaRPr sz="2200" dirty="0">
              <a:latin typeface="Times New Roman"/>
              <a:cs typeface="Times New Roman"/>
            </a:endParaRPr>
          </a:p>
          <a:p>
            <a:pPr marL="24765" marR="5080" indent="-12700">
              <a:lnSpc>
                <a:spcPts val="250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lang="en-US" sz="2200" spc="-5" dirty="0" smtClean="0">
                <a:latin typeface="Times New Roman"/>
                <a:cs typeface="Times New Roman"/>
              </a:rPr>
              <a:t>   </a:t>
            </a:r>
            <a:r>
              <a:rPr sz="2200" spc="-5" dirty="0" smtClean="0">
                <a:latin typeface="Times New Roman"/>
                <a:cs typeface="Times New Roman"/>
              </a:rPr>
              <a:t>It</a:t>
            </a:r>
            <a:r>
              <a:rPr sz="2200" spc="15" dirty="0" smtClean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also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describes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physical</a:t>
            </a:r>
            <a:r>
              <a:rPr sz="2200" dirty="0">
                <a:latin typeface="Times New Roman"/>
                <a:cs typeface="Times New Roman"/>
              </a:rPr>
              <a:t> layout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 the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different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components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devices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on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motherboard.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200" spc="-40" dirty="0">
                <a:latin typeface="Times New Roman"/>
                <a:cs typeface="Times New Roman"/>
              </a:rPr>
              <a:t>Various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form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factors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exist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 </a:t>
            </a:r>
            <a:r>
              <a:rPr sz="2200" spc="-5" dirty="0">
                <a:latin typeface="Times New Roman"/>
                <a:cs typeface="Times New Roman"/>
              </a:rPr>
              <a:t>motherboards.</a:t>
            </a:r>
            <a:endParaRPr sz="2200" dirty="0">
              <a:latin typeface="Times New Roman"/>
              <a:cs typeface="Times New Roman"/>
            </a:endParaRPr>
          </a:p>
          <a:p>
            <a:pPr marL="421005" lvl="1" indent="-287655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421005" algn="l"/>
                <a:tab pos="421640" algn="l"/>
              </a:tabLst>
            </a:pPr>
            <a:r>
              <a:rPr sz="2200" spc="-250" dirty="0">
                <a:latin typeface="Times New Roman"/>
                <a:cs typeface="Times New Roman"/>
              </a:rPr>
              <a:t>A</a:t>
            </a:r>
            <a:r>
              <a:rPr sz="2200" spc="-5" dirty="0">
                <a:latin typeface="Times New Roman"/>
                <a:cs typeface="Times New Roman"/>
              </a:rPr>
              <a:t>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–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Ad</a:t>
            </a:r>
            <a:r>
              <a:rPr sz="2200" dirty="0">
                <a:latin typeface="Times New Roman"/>
                <a:cs typeface="Times New Roman"/>
              </a:rPr>
              <a:t>v</a:t>
            </a:r>
            <a:r>
              <a:rPr sz="2200" spc="-5" dirty="0">
                <a:latin typeface="Times New Roman"/>
                <a:cs typeface="Times New Roman"/>
              </a:rPr>
              <a:t>anced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160" dirty="0">
                <a:latin typeface="Times New Roman"/>
                <a:cs typeface="Times New Roman"/>
              </a:rPr>
              <a:t>T</a:t>
            </a:r>
            <a:r>
              <a:rPr sz="2200" spc="-5" dirty="0">
                <a:latin typeface="Times New Roman"/>
                <a:cs typeface="Times New Roman"/>
              </a:rPr>
              <a:t>echn</a:t>
            </a:r>
            <a:r>
              <a:rPr sz="2200" dirty="0">
                <a:latin typeface="Times New Roman"/>
                <a:cs typeface="Times New Roman"/>
              </a:rPr>
              <a:t>o</a:t>
            </a:r>
            <a:r>
              <a:rPr sz="2200" spc="-5" dirty="0">
                <a:latin typeface="Times New Roman"/>
                <a:cs typeface="Times New Roman"/>
              </a:rPr>
              <a:t>logy</a:t>
            </a:r>
            <a:endParaRPr sz="2200" dirty="0">
              <a:latin typeface="Times New Roman"/>
              <a:cs typeface="Times New Roman"/>
            </a:endParaRPr>
          </a:p>
          <a:p>
            <a:pPr marL="421005" lvl="1" indent="-28765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421005" algn="l"/>
                <a:tab pos="421640" algn="l"/>
              </a:tabLst>
            </a:pPr>
            <a:r>
              <a:rPr sz="2200" spc="-85" dirty="0">
                <a:latin typeface="Times New Roman"/>
                <a:cs typeface="Times New Roman"/>
              </a:rPr>
              <a:t>ATX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–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Advanced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Technology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Extended</a:t>
            </a:r>
            <a:endParaRPr sz="2200" dirty="0">
              <a:latin typeface="Times New Roman"/>
              <a:cs typeface="Times New Roman"/>
            </a:endParaRPr>
          </a:p>
          <a:p>
            <a:pPr marL="421005" lvl="1" indent="-28765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421005" algn="l"/>
                <a:tab pos="421640" algn="l"/>
              </a:tabLst>
            </a:pPr>
            <a:r>
              <a:rPr sz="2200" spc="-35" dirty="0">
                <a:latin typeface="Times New Roman"/>
                <a:cs typeface="Times New Roman"/>
              </a:rPr>
              <a:t>Mini-ATX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–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Smaller footprint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ATX</a:t>
            </a:r>
            <a:endParaRPr sz="2200" dirty="0">
              <a:latin typeface="Times New Roman"/>
              <a:cs typeface="Times New Roman"/>
            </a:endParaRPr>
          </a:p>
          <a:p>
            <a:pPr marL="421005" lvl="1" indent="-287655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421005" algn="l"/>
                <a:tab pos="421640" algn="l"/>
              </a:tabLst>
            </a:pPr>
            <a:r>
              <a:rPr sz="2200" spc="-5" dirty="0">
                <a:latin typeface="Times New Roman"/>
                <a:cs typeface="Times New Roman"/>
              </a:rPr>
              <a:t>Micr</a:t>
            </a:r>
            <a:r>
              <a:rPr sz="2200" dirty="0">
                <a:latin typeface="Times New Roman"/>
                <a:cs typeface="Times New Roman"/>
              </a:rPr>
              <a:t>o</a:t>
            </a:r>
            <a:r>
              <a:rPr sz="2200" spc="-5" dirty="0">
                <a:latin typeface="Times New Roman"/>
                <a:cs typeface="Times New Roman"/>
              </a:rPr>
              <a:t>-</a:t>
            </a:r>
            <a:r>
              <a:rPr sz="2200" spc="-250" dirty="0">
                <a:latin typeface="Times New Roman"/>
                <a:cs typeface="Times New Roman"/>
              </a:rPr>
              <a:t>A</a:t>
            </a:r>
            <a:r>
              <a:rPr sz="2200" spc="-5" dirty="0">
                <a:latin typeface="Times New Roman"/>
                <a:cs typeface="Times New Roman"/>
              </a:rPr>
              <a:t>TX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–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</a:t>
            </a:r>
            <a:r>
              <a:rPr sz="2200" spc="-20" dirty="0">
                <a:latin typeface="Times New Roman"/>
                <a:cs typeface="Times New Roman"/>
              </a:rPr>
              <a:t>m</a:t>
            </a:r>
            <a:r>
              <a:rPr sz="2200" spc="-5" dirty="0">
                <a:latin typeface="Times New Roman"/>
                <a:cs typeface="Times New Roman"/>
              </a:rPr>
              <a:t>aller footprint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spc="-250" dirty="0">
                <a:latin typeface="Times New Roman"/>
                <a:cs typeface="Times New Roman"/>
              </a:rPr>
              <a:t>A</a:t>
            </a:r>
            <a:r>
              <a:rPr sz="2200" spc="-5" dirty="0">
                <a:latin typeface="Times New Roman"/>
                <a:cs typeface="Times New Roman"/>
              </a:rPr>
              <a:t>TX</a:t>
            </a:r>
            <a:endParaRPr sz="2200" dirty="0">
              <a:latin typeface="Times New Roman"/>
              <a:cs typeface="Times New Roman"/>
            </a:endParaRPr>
          </a:p>
          <a:p>
            <a:pPr marL="421005" lvl="1" indent="-287655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421005" algn="l"/>
                <a:tab pos="421640" algn="l"/>
              </a:tabLst>
            </a:pPr>
            <a:r>
              <a:rPr sz="2200" spc="-5" dirty="0">
                <a:latin typeface="Times New Roman"/>
                <a:cs typeface="Times New Roman"/>
              </a:rPr>
              <a:t>LPX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–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Low-profile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Extended</a:t>
            </a:r>
            <a:endParaRPr sz="2200" dirty="0">
              <a:latin typeface="Times New Roman"/>
              <a:cs typeface="Times New Roman"/>
            </a:endParaRPr>
          </a:p>
          <a:p>
            <a:pPr marL="421005" lvl="1" indent="-28765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421005" algn="l"/>
                <a:tab pos="421640" algn="l"/>
              </a:tabLst>
            </a:pPr>
            <a:r>
              <a:rPr sz="2200" spc="-5" dirty="0">
                <a:latin typeface="Times New Roman"/>
                <a:cs typeface="Times New Roman"/>
              </a:rPr>
              <a:t>NLX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–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New Low-Profile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Extended</a:t>
            </a:r>
            <a:endParaRPr sz="2200" dirty="0">
              <a:latin typeface="Times New Roman"/>
              <a:cs typeface="Times New Roman"/>
            </a:endParaRPr>
          </a:p>
          <a:p>
            <a:pPr marL="421005" lvl="1" indent="-287655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421005" algn="l"/>
                <a:tab pos="421640" algn="l"/>
              </a:tabLst>
            </a:pPr>
            <a:r>
              <a:rPr sz="2200" spc="-5" dirty="0">
                <a:latin typeface="Times New Roman"/>
                <a:cs typeface="Times New Roman"/>
              </a:rPr>
              <a:t>BLX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–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Balance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technology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Extended</a:t>
            </a:r>
            <a:endParaRPr sz="2200" dirty="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8763" y="1405089"/>
            <a:ext cx="10365105" cy="4996180"/>
            <a:chOff x="778763" y="1405089"/>
            <a:chExt cx="10365105" cy="49961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763" y="1405089"/>
              <a:ext cx="3678936" cy="15853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199" y="1444752"/>
              <a:ext cx="3564636" cy="457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86456" y="1450809"/>
              <a:ext cx="4486656" cy="1585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5891" y="1490472"/>
              <a:ext cx="4372356" cy="457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18731" y="2816352"/>
              <a:ext cx="3810000" cy="15133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05499" y="4876800"/>
              <a:ext cx="5237988" cy="1524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8489" y="90932"/>
            <a:ext cx="28771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RAM</a:t>
            </a:r>
            <a:r>
              <a:rPr spc="-175" dirty="0"/>
              <a:t> </a:t>
            </a:r>
            <a:r>
              <a:rPr spc="-65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3955" y="1149857"/>
            <a:ext cx="11033760" cy="5502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 algn="just">
              <a:lnSpc>
                <a:spcPts val="228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b="1" dirty="0">
                <a:latin typeface="Times New Roman"/>
                <a:cs typeface="Times New Roman"/>
              </a:rPr>
              <a:t>SDRAM</a:t>
            </a:r>
            <a:r>
              <a:rPr sz="2000" b="1" spc="-5" dirty="0">
                <a:latin typeface="Times New Roman"/>
                <a:cs typeface="Times New Roman"/>
              </a:rPr>
              <a:t> (Synchronous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Dynamic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Random-Access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Memory):</a:t>
            </a:r>
            <a:endParaRPr sz="2000">
              <a:latin typeface="Times New Roman"/>
              <a:cs typeface="Times New Roman"/>
            </a:endParaRPr>
          </a:p>
          <a:p>
            <a:pPr marL="241300" marR="134620" algn="just">
              <a:lnSpc>
                <a:spcPts val="2160"/>
              </a:lnSpc>
              <a:spcBef>
                <a:spcPts val="150"/>
              </a:spcBef>
            </a:pPr>
            <a:r>
              <a:rPr sz="2000" dirty="0">
                <a:latin typeface="Times New Roman"/>
                <a:cs typeface="Times New Roman"/>
              </a:rPr>
              <a:t>This enables the </a:t>
            </a:r>
            <a:r>
              <a:rPr sz="2000" spc="-5" dirty="0">
                <a:latin typeface="Times New Roman"/>
                <a:cs typeface="Times New Roman"/>
              </a:rPr>
              <a:t>memory </a:t>
            </a:r>
            <a:r>
              <a:rPr sz="2000" dirty="0">
                <a:latin typeface="Times New Roman"/>
                <a:cs typeface="Times New Roman"/>
              </a:rPr>
              <a:t>controller to know the exact clock </a:t>
            </a:r>
            <a:r>
              <a:rPr sz="2000" spc="-5" dirty="0">
                <a:latin typeface="Times New Roman"/>
                <a:cs typeface="Times New Roman"/>
              </a:rPr>
              <a:t>cycle </a:t>
            </a:r>
            <a:r>
              <a:rPr sz="2000" dirty="0">
                <a:latin typeface="Times New Roman"/>
                <a:cs typeface="Times New Roman"/>
              </a:rPr>
              <a:t>when the requested data </a:t>
            </a:r>
            <a:r>
              <a:rPr sz="2000" spc="-5" dirty="0">
                <a:latin typeface="Times New Roman"/>
                <a:cs typeface="Times New Roman"/>
              </a:rPr>
              <a:t>will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25" dirty="0">
                <a:latin typeface="Times New Roman"/>
                <a:cs typeface="Times New Roman"/>
              </a:rPr>
              <a:t>ready,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CPU</a:t>
            </a:r>
            <a:r>
              <a:rPr sz="2000" spc="5" dirty="0">
                <a:latin typeface="Times New Roman"/>
                <a:cs typeface="Times New Roman"/>
              </a:rPr>
              <a:t> no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longer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must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wait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10" dirty="0">
                <a:latin typeface="Times New Roman"/>
                <a:cs typeface="Times New Roman"/>
              </a:rPr>
              <a:t> memory</a:t>
            </a:r>
            <a:r>
              <a:rPr sz="2000" dirty="0">
                <a:latin typeface="Times New Roman"/>
                <a:cs typeface="Times New Roman"/>
              </a:rPr>
              <a:t> accesses.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SDRAM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must </a:t>
            </a:r>
            <a:r>
              <a:rPr sz="2000" dirty="0">
                <a:latin typeface="Times New Roman"/>
                <a:cs typeface="Times New Roman"/>
              </a:rPr>
              <a:t>wait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completion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previous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command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5" dirty="0">
                <a:latin typeface="Times New Roman"/>
                <a:cs typeface="Times New Roman"/>
              </a:rPr>
              <a:t>able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another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read/write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operation.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ts val="2280"/>
              </a:lnSpc>
              <a:spcBef>
                <a:spcPts val="72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b="1" dirty="0">
                <a:latin typeface="Times New Roman"/>
                <a:cs typeface="Times New Roman"/>
              </a:rPr>
              <a:t>DDR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SDRAM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(Double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5" dirty="0">
                <a:latin typeface="Times New Roman"/>
                <a:cs typeface="Times New Roman"/>
              </a:rPr>
              <a:t>Data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5" dirty="0">
                <a:latin typeface="Times New Roman"/>
                <a:cs typeface="Times New Roman"/>
              </a:rPr>
              <a:t>Rate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SDRAM):</a:t>
            </a:r>
            <a:endParaRPr sz="2000">
              <a:latin typeface="Times New Roman"/>
              <a:cs typeface="Times New Roman"/>
            </a:endParaRPr>
          </a:p>
          <a:p>
            <a:pPr marL="241300" marR="726440">
              <a:lnSpc>
                <a:spcPts val="2160"/>
              </a:lnSpc>
              <a:spcBef>
                <a:spcPts val="155"/>
              </a:spcBef>
            </a:pPr>
            <a:r>
              <a:rPr sz="2000" dirty="0">
                <a:latin typeface="Times New Roman"/>
                <a:cs typeface="Times New Roman"/>
              </a:rPr>
              <a:t>Doubles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transfer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rate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without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increasing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frequency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clock.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transfer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rate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DDR </a:t>
            </a:r>
            <a:r>
              <a:rPr sz="2000" spc="-5" dirty="0">
                <a:latin typeface="Times New Roman"/>
                <a:cs typeface="Times New Roman"/>
              </a:rPr>
              <a:t>is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266~400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MT/s.</a:t>
            </a:r>
            <a:r>
              <a:rPr sz="2000" dirty="0">
                <a:latin typeface="Times New Roman"/>
                <a:cs typeface="Times New Roman"/>
              </a:rPr>
              <a:t> DDR266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DDR400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type.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ts val="2280"/>
              </a:lnSpc>
              <a:spcBef>
                <a:spcPts val="73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b="1" dirty="0">
                <a:latin typeface="Times New Roman"/>
                <a:cs typeface="Times New Roman"/>
              </a:rPr>
              <a:t>DDR2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SDRAM(Double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5" dirty="0">
                <a:latin typeface="Times New Roman"/>
                <a:cs typeface="Times New Roman"/>
              </a:rPr>
              <a:t>Data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5" dirty="0">
                <a:latin typeface="Times New Roman"/>
                <a:cs typeface="Times New Roman"/>
              </a:rPr>
              <a:t>Rate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55" dirty="0">
                <a:latin typeface="Times New Roman"/>
                <a:cs typeface="Times New Roman"/>
              </a:rPr>
              <a:t>Two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SDRAM):</a:t>
            </a:r>
            <a:endParaRPr sz="2000">
              <a:latin typeface="Times New Roman"/>
              <a:cs typeface="Times New Roman"/>
            </a:endParaRPr>
          </a:p>
          <a:p>
            <a:pPr marL="241300" marR="116839">
              <a:lnSpc>
                <a:spcPts val="2160"/>
              </a:lnSpc>
              <a:spcBef>
                <a:spcPts val="155"/>
              </a:spcBef>
            </a:pPr>
            <a:r>
              <a:rPr sz="2000" dirty="0">
                <a:latin typeface="Times New Roman"/>
                <a:cs typeface="Times New Roman"/>
              </a:rPr>
              <a:t>Its </a:t>
            </a:r>
            <a:r>
              <a:rPr sz="2000" spc="-5" dirty="0">
                <a:latin typeface="Times New Roman"/>
                <a:cs typeface="Times New Roman"/>
              </a:rPr>
              <a:t>primary </a:t>
            </a:r>
            <a:r>
              <a:rPr sz="2000" dirty="0">
                <a:latin typeface="Times New Roman"/>
                <a:cs typeface="Times New Roman"/>
              </a:rPr>
              <a:t>benefit is the </a:t>
            </a:r>
            <a:r>
              <a:rPr sz="2000" spc="-5" dirty="0">
                <a:latin typeface="Times New Roman"/>
                <a:cs typeface="Times New Roman"/>
              </a:rPr>
              <a:t>ability </a:t>
            </a:r>
            <a:r>
              <a:rPr sz="2000" dirty="0">
                <a:latin typeface="Times New Roman"/>
                <a:cs typeface="Times New Roman"/>
              </a:rPr>
              <a:t>to operate the external data </a:t>
            </a:r>
            <a:r>
              <a:rPr sz="2000" spc="5" dirty="0">
                <a:latin typeface="Times New Roman"/>
                <a:cs typeface="Times New Roman"/>
              </a:rPr>
              <a:t>bus </a:t>
            </a:r>
            <a:r>
              <a:rPr sz="2000" spc="-5" dirty="0">
                <a:latin typeface="Times New Roman"/>
                <a:cs typeface="Times New Roman"/>
              </a:rPr>
              <a:t>twice </a:t>
            </a:r>
            <a:r>
              <a:rPr sz="2000" dirty="0">
                <a:latin typeface="Times New Roman"/>
                <a:cs typeface="Times New Roman"/>
              </a:rPr>
              <a:t>as fast as DDR SDRAM. This is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achieved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 improved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bus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signal.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transfer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rate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DDR2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 reach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533~800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MT/s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improved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I/O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signal.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DDR2 533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DDR2 800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memory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types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market.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ts val="2280"/>
              </a:lnSpc>
              <a:spcBef>
                <a:spcPts val="72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b="1" dirty="0">
                <a:latin typeface="Times New Roman"/>
                <a:cs typeface="Times New Roman"/>
              </a:rPr>
              <a:t>DDR3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SDRAM(Double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Data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Rate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Three </a:t>
            </a:r>
            <a:r>
              <a:rPr sz="2000" b="1" dirty="0">
                <a:latin typeface="Times New Roman"/>
                <a:cs typeface="Times New Roman"/>
              </a:rPr>
              <a:t>SDRAM):</a:t>
            </a:r>
            <a:endParaRPr sz="2000">
              <a:latin typeface="Times New Roman"/>
              <a:cs typeface="Times New Roman"/>
            </a:endParaRPr>
          </a:p>
          <a:p>
            <a:pPr marL="241300" marR="5080">
              <a:lnSpc>
                <a:spcPts val="2160"/>
              </a:lnSpc>
              <a:spcBef>
                <a:spcPts val="150"/>
              </a:spcBef>
            </a:pPr>
            <a:r>
              <a:rPr sz="2000" dirty="0">
                <a:latin typeface="Times New Roman"/>
                <a:cs typeface="Times New Roman"/>
              </a:rPr>
              <a:t>DDR3</a:t>
            </a:r>
            <a:r>
              <a:rPr sz="2000" spc="-10" dirty="0">
                <a:latin typeface="Times New Roman"/>
                <a:cs typeface="Times New Roman"/>
              </a:rPr>
              <a:t> memory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reduces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40%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power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consumption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compared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current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DDR2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modules,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allowing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lower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operating currents and voltages (1.5 </a:t>
            </a:r>
            <a:r>
              <a:rPr sz="2000" spc="-125" dirty="0">
                <a:latin typeface="Times New Roman"/>
                <a:cs typeface="Times New Roman"/>
              </a:rPr>
              <a:t>V, </a:t>
            </a:r>
            <a:r>
              <a:rPr sz="2000" spc="-5" dirty="0">
                <a:latin typeface="Times New Roman"/>
                <a:cs typeface="Times New Roman"/>
              </a:rPr>
              <a:t>compared </a:t>
            </a:r>
            <a:r>
              <a:rPr sz="2000" dirty="0">
                <a:latin typeface="Times New Roman"/>
                <a:cs typeface="Times New Roman"/>
              </a:rPr>
              <a:t>to DDR2's 1.8 V or </a:t>
            </a:r>
            <a:r>
              <a:rPr sz="2000" spc="-5" dirty="0">
                <a:latin typeface="Times New Roman"/>
                <a:cs typeface="Times New Roman"/>
              </a:rPr>
              <a:t>DDR's </a:t>
            </a:r>
            <a:r>
              <a:rPr sz="2000" dirty="0">
                <a:latin typeface="Times New Roman"/>
                <a:cs typeface="Times New Roman"/>
              </a:rPr>
              <a:t>2.5 V). The transfer rate of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DDR3</a:t>
            </a:r>
            <a:r>
              <a:rPr sz="2000" spc="-5" dirty="0">
                <a:latin typeface="Times New Roman"/>
                <a:cs typeface="Times New Roman"/>
              </a:rPr>
              <a:t> 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800~1600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MT/s.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ts val="2280"/>
              </a:lnSpc>
              <a:spcBef>
                <a:spcPts val="73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b="1" dirty="0">
                <a:latin typeface="Times New Roman"/>
                <a:cs typeface="Times New Roman"/>
              </a:rPr>
              <a:t>DDR4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SDRAM (Double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5" dirty="0">
                <a:latin typeface="Times New Roman"/>
                <a:cs typeface="Times New Roman"/>
              </a:rPr>
              <a:t>Data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5" dirty="0">
                <a:latin typeface="Times New Roman"/>
                <a:cs typeface="Times New Roman"/>
              </a:rPr>
              <a:t>Rate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Fourth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SDRAM):</a:t>
            </a:r>
            <a:endParaRPr sz="2000">
              <a:latin typeface="Times New Roman"/>
              <a:cs typeface="Times New Roman"/>
            </a:endParaRPr>
          </a:p>
          <a:p>
            <a:pPr marL="241300" marR="146685">
              <a:lnSpc>
                <a:spcPts val="2160"/>
              </a:lnSpc>
              <a:spcBef>
                <a:spcPts val="150"/>
              </a:spcBef>
            </a:pPr>
            <a:r>
              <a:rPr sz="2000" dirty="0">
                <a:latin typeface="Times New Roman"/>
                <a:cs typeface="Times New Roman"/>
              </a:rPr>
              <a:t>DDR4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SDRAM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lower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voltage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(1.2V)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transfer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rate.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transfer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rate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DDR4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2133~3200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MT/s.</a:t>
            </a:r>
            <a:r>
              <a:rPr sz="2000" dirty="0">
                <a:latin typeface="Times New Roman"/>
                <a:cs typeface="Times New Roman"/>
              </a:rPr>
              <a:t> DDR4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can</a:t>
            </a:r>
            <a:r>
              <a:rPr sz="2000" dirty="0">
                <a:latin typeface="Times New Roman"/>
                <a:cs typeface="Times New Roman"/>
              </a:rPr>
              <a:t> process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 data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clock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cycle.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9704" y="818349"/>
            <a:ext cx="6596380" cy="204470"/>
            <a:chOff x="679704" y="818349"/>
            <a:chExt cx="6596380" cy="2044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9704" y="818349"/>
              <a:ext cx="3680460" cy="15853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9140" y="858011"/>
              <a:ext cx="3566160" cy="457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87396" y="864069"/>
              <a:ext cx="4488180" cy="1585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46831" y="903731"/>
              <a:ext cx="4373880" cy="457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534365"/>
            <a:ext cx="28790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RAM</a:t>
            </a:r>
            <a:r>
              <a:rPr spc="-165" dirty="0"/>
              <a:t> </a:t>
            </a:r>
            <a:r>
              <a:rPr spc="-65" dirty="0"/>
              <a:t>Types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905133" y="1371600"/>
            <a:ext cx="7936993" cy="2878785"/>
            <a:chOff x="778763" y="1536242"/>
            <a:chExt cx="7936993" cy="2878785"/>
          </a:xfrm>
        </p:grpSpPr>
        <p:grpSp>
          <p:nvGrpSpPr>
            <p:cNvPr id="3" name="object 3"/>
            <p:cNvGrpSpPr/>
            <p:nvPr/>
          </p:nvGrpSpPr>
          <p:grpSpPr>
            <a:xfrm>
              <a:off x="778763" y="1536242"/>
              <a:ext cx="5114544" cy="2878785"/>
              <a:chOff x="778763" y="1536242"/>
              <a:chExt cx="5114544" cy="2878785"/>
            </a:xfrm>
          </p:grpSpPr>
          <p:pic>
            <p:nvPicPr>
              <p:cNvPr id="4" name="object 4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78763" y="1536242"/>
                <a:ext cx="2865120" cy="175336"/>
              </a:xfrm>
              <a:prstGeom prst="rect">
                <a:avLst/>
              </a:prstGeom>
            </p:spPr>
          </p:pic>
          <p:pic>
            <p:nvPicPr>
              <p:cNvPr id="5" name="object 5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38199" y="1575815"/>
                <a:ext cx="2750820" cy="62484"/>
              </a:xfrm>
              <a:prstGeom prst="rect">
                <a:avLst/>
              </a:prstGeom>
            </p:spPr>
          </p:pic>
          <p:pic>
            <p:nvPicPr>
              <p:cNvPr id="6" name="object 6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404871" y="1598637"/>
                <a:ext cx="3488436" cy="176822"/>
              </a:xfrm>
              <a:prstGeom prst="rect">
                <a:avLst/>
              </a:prstGeom>
            </p:spPr>
          </p:pic>
          <p:pic>
            <p:nvPicPr>
              <p:cNvPr id="7" name="object 7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2464308" y="1638299"/>
                <a:ext cx="3374136" cy="64008"/>
              </a:xfrm>
              <a:prstGeom prst="rect">
                <a:avLst/>
              </a:prstGeom>
            </p:spPr>
          </p:pic>
          <p:pic>
            <p:nvPicPr>
              <p:cNvPr id="8" name="object 8"/>
              <p:cNvPicPr/>
              <p:nvPr/>
            </p:nvPicPr>
            <p:blipFill rotWithShape="1">
              <a:blip r:embed="rId6" cstate="print"/>
              <a:srcRect r="54618"/>
              <a:stretch/>
            </p:blipFill>
            <p:spPr>
              <a:xfrm>
                <a:off x="2049780" y="2205227"/>
                <a:ext cx="3436620" cy="2209800"/>
              </a:xfrm>
              <a:prstGeom prst="rect">
                <a:avLst/>
              </a:prstGeom>
            </p:spPr>
          </p:pic>
        </p:grpSp>
        <p:pic>
          <p:nvPicPr>
            <p:cNvPr id="11" name="object 8"/>
            <p:cNvPicPr/>
            <p:nvPr/>
          </p:nvPicPr>
          <p:blipFill rotWithShape="1">
            <a:blip r:embed="rId6" cstate="print"/>
            <a:srcRect l="57356"/>
            <a:stretch/>
          </p:blipFill>
          <p:spPr>
            <a:xfrm>
              <a:off x="5486400" y="2205227"/>
              <a:ext cx="3229356" cy="22098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26440"/>
            <a:ext cx="78543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Internal</a:t>
            </a:r>
            <a:r>
              <a:rPr spc="-30" dirty="0"/>
              <a:t> </a:t>
            </a:r>
            <a:r>
              <a:rPr dirty="0"/>
              <a:t>PC</a:t>
            </a:r>
            <a:r>
              <a:rPr spc="-5" dirty="0"/>
              <a:t> </a:t>
            </a:r>
            <a:r>
              <a:rPr dirty="0"/>
              <a:t>Components</a:t>
            </a:r>
            <a:r>
              <a:rPr spc="-30" dirty="0"/>
              <a:t> </a:t>
            </a:r>
            <a:r>
              <a:rPr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152" y="1718194"/>
            <a:ext cx="7645400" cy="4778231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dirty="0" smtClean="0">
                <a:latin typeface="Times New Roman"/>
                <a:cs typeface="Times New Roman"/>
              </a:rPr>
              <a:t>Storage</a:t>
            </a:r>
            <a:r>
              <a:rPr sz="2000" spc="-65" dirty="0" smtClean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</a:t>
            </a:r>
          </a:p>
          <a:p>
            <a:pPr marL="756285" marR="165100" lvl="1" indent="-287020">
              <a:lnSpc>
                <a:spcPts val="2160"/>
              </a:lnSpc>
              <a:spcBef>
                <a:spcPts val="525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Designed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permanently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</a:p>
          <a:p>
            <a:pPr marL="756285" lvl="1" indent="-287020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spc="-5" dirty="0">
                <a:latin typeface="Times New Roman"/>
                <a:cs typeface="Times New Roman"/>
              </a:rPr>
              <a:t>Can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internal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 external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 smtClean="0">
                <a:latin typeface="Times New Roman"/>
                <a:cs typeface="Times New Roman"/>
              </a:rPr>
              <a:t>computer</a:t>
            </a:r>
            <a:endParaRPr lang="en-US" sz="2000" spc="-25" dirty="0" smtClean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Adapter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Cards</a:t>
            </a:r>
            <a:r>
              <a:rPr lang="en-US" sz="2000" spc="-3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and</a:t>
            </a:r>
            <a:r>
              <a:rPr lang="en-US" sz="2000" spc="-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Expansion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Slots</a:t>
            </a:r>
          </a:p>
          <a:p>
            <a:pPr marL="756285" lvl="1" indent="-28702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Adapter</a:t>
            </a:r>
            <a:r>
              <a:rPr lang="en-US" sz="2000" spc="-2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Cards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extend</a:t>
            </a:r>
            <a:r>
              <a:rPr lang="en-US" sz="2000" spc="-10" dirty="0">
                <a:latin typeface="Times New Roman"/>
                <a:cs typeface="Times New Roman"/>
              </a:rPr>
              <a:t> </a:t>
            </a:r>
            <a:r>
              <a:rPr lang="en-US" sz="2000" spc="-5" dirty="0">
                <a:latin typeface="Times New Roman"/>
                <a:cs typeface="Times New Roman"/>
              </a:rPr>
              <a:t>computer</a:t>
            </a:r>
            <a:r>
              <a:rPr lang="en-US" sz="2000" spc="-10" dirty="0">
                <a:latin typeface="Times New Roman"/>
                <a:cs typeface="Times New Roman"/>
              </a:rPr>
              <a:t> </a:t>
            </a:r>
            <a:r>
              <a:rPr lang="en-US" sz="2000" spc="-5" dirty="0">
                <a:latin typeface="Times New Roman"/>
                <a:cs typeface="Times New Roman"/>
              </a:rPr>
              <a:t>functionality</a:t>
            </a:r>
            <a:endParaRPr lang="en-US" sz="20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254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Adapter</a:t>
            </a:r>
            <a:r>
              <a:rPr lang="en-US" sz="2000" spc="-3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Cards</a:t>
            </a:r>
            <a:r>
              <a:rPr lang="en-US" sz="2000" spc="-2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connect</a:t>
            </a:r>
            <a:r>
              <a:rPr lang="en-US" sz="2000" spc="-2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to</a:t>
            </a:r>
            <a:r>
              <a:rPr lang="en-US" sz="2000" spc="-1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the</a:t>
            </a:r>
            <a:r>
              <a:rPr lang="en-US" sz="2000" spc="-2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motherboard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through</a:t>
            </a:r>
            <a:r>
              <a:rPr lang="en-US" sz="2000" spc="-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Expansion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Slots</a:t>
            </a: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25" dirty="0" smtClean="0">
                <a:latin typeface="Times New Roman"/>
                <a:cs typeface="Times New Roman"/>
              </a:rPr>
              <a:t>Video</a:t>
            </a:r>
            <a:r>
              <a:rPr sz="2000" spc="-50" dirty="0" smtClean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Ports</a:t>
            </a:r>
          </a:p>
          <a:p>
            <a:pPr marL="756285" marR="422909" lvl="1" indent="-287020">
              <a:lnSpc>
                <a:spcPts val="2160"/>
              </a:lnSpc>
              <a:spcBef>
                <a:spcPts val="540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Connects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video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</a:t>
            </a:r>
            <a:r>
              <a:rPr sz="2000" spc="-5" dirty="0">
                <a:latin typeface="Times New Roman"/>
                <a:cs typeface="Times New Roman"/>
              </a:rPr>
              <a:t>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external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display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monitor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projector</a:t>
            </a:r>
          </a:p>
          <a:p>
            <a:pPr marL="756285" lvl="1" indent="-287020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spc="-25" dirty="0">
                <a:latin typeface="Times New Roman"/>
                <a:cs typeface="Times New Roman"/>
              </a:rPr>
              <a:t>Video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systems</a:t>
            </a:r>
            <a:r>
              <a:rPr sz="2000" dirty="0">
                <a:latin typeface="Times New Roman"/>
                <a:cs typeface="Times New Roman"/>
              </a:rPr>
              <a:t> are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often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designed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adapter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card.</a:t>
            </a: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General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Ports</a:t>
            </a:r>
          </a:p>
          <a:p>
            <a:pPr marL="641985" marR="127635" lvl="1" indent="-172720">
              <a:lnSpc>
                <a:spcPts val="2160"/>
              </a:lnSpc>
              <a:spcBef>
                <a:spcPts val="540"/>
              </a:spcBef>
              <a:buFont typeface="Arial MT"/>
              <a:buChar char="•"/>
              <a:tabLst>
                <a:tab pos="642620" algn="l"/>
              </a:tabLst>
            </a:pPr>
            <a:r>
              <a:rPr sz="2000" dirty="0">
                <a:latin typeface="Times New Roman"/>
                <a:cs typeface="Times New Roman"/>
              </a:rPr>
              <a:t>Provide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connectivity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motherboard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various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external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 printers,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external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video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cameras.</a:t>
            </a:r>
            <a:endParaRPr sz="2000" dirty="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8763" y="1418805"/>
            <a:ext cx="11413490" cy="4904740"/>
            <a:chOff x="778763" y="1418805"/>
            <a:chExt cx="11413490" cy="49047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763" y="1418805"/>
              <a:ext cx="3678936" cy="15853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199" y="1458468"/>
              <a:ext cx="3564636" cy="457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86456" y="1464525"/>
              <a:ext cx="4486656" cy="1585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5891" y="1504188"/>
              <a:ext cx="4372356" cy="457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84335" y="1988820"/>
              <a:ext cx="3407664" cy="43342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60435" y="4436364"/>
            <a:ext cx="4101084" cy="146151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26440"/>
            <a:ext cx="63201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External</a:t>
            </a:r>
            <a:r>
              <a:rPr spc="-35" dirty="0"/>
              <a:t> </a:t>
            </a:r>
            <a:r>
              <a:rPr dirty="0"/>
              <a:t>Ports</a:t>
            </a:r>
            <a:r>
              <a:rPr spc="-1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Cables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667103"/>
            <a:ext cx="6791325" cy="4278094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spc="-25" dirty="0">
                <a:latin typeface="Times New Roman"/>
                <a:cs typeface="Times New Roman"/>
              </a:rPr>
              <a:t>Video </a:t>
            </a:r>
            <a:r>
              <a:rPr sz="2000" dirty="0">
                <a:latin typeface="Times New Roman"/>
                <a:cs typeface="Times New Roman"/>
              </a:rPr>
              <a:t>Ports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Related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Cables</a:t>
            </a:r>
          </a:p>
          <a:p>
            <a:pPr marL="756285" marR="106045" lvl="1" indent="-287020">
              <a:lnSpc>
                <a:spcPts val="2160"/>
              </a:lnSpc>
              <a:spcBef>
                <a:spcPts val="540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few</a:t>
            </a:r>
            <a:r>
              <a:rPr sz="2000" spc="-5" dirty="0">
                <a:latin typeface="Times New Roman"/>
                <a:cs typeface="Times New Roman"/>
              </a:rPr>
              <a:t> different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standards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govern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video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traffic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computer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external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video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devices.</a:t>
            </a:r>
          </a:p>
          <a:p>
            <a:pPr marL="756285" lvl="1" indent="-287020">
              <a:lnSpc>
                <a:spcPts val="2280"/>
              </a:lnSpc>
              <a:spcBef>
                <a:spcPts val="219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HDMI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DisplayPort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examples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video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ports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</a:p>
          <a:p>
            <a:pPr marL="756285">
              <a:lnSpc>
                <a:spcPts val="2280"/>
              </a:lnSpc>
            </a:pPr>
            <a:r>
              <a:rPr sz="2000" dirty="0">
                <a:latin typeface="Times New Roman"/>
                <a:cs typeface="Times New Roman"/>
              </a:rPr>
              <a:t>require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specific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cable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operate.</a:t>
            </a:r>
          </a:p>
          <a:p>
            <a:pPr marL="241300" indent="-22923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Ports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Related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Cables</a:t>
            </a:r>
          </a:p>
          <a:p>
            <a:pPr marL="756285" marR="5080" lvl="1" indent="-287020">
              <a:lnSpc>
                <a:spcPts val="2160"/>
              </a:lnSpc>
              <a:spcBef>
                <a:spcPts val="525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Motherboards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number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ports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connectivity;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USB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10" dirty="0">
                <a:latin typeface="Times New Roman"/>
                <a:cs typeface="Times New Roman"/>
              </a:rPr>
              <a:t>common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example.</a:t>
            </a:r>
            <a:endParaRPr sz="2000" dirty="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dirty="0" smtClean="0">
                <a:latin typeface="Times New Roman"/>
                <a:cs typeface="Times New Roman"/>
              </a:rPr>
              <a:t>Adapters</a:t>
            </a:r>
            <a:endParaRPr sz="2000" dirty="0">
              <a:latin typeface="Times New Roman"/>
              <a:cs typeface="Times New Roman"/>
            </a:endParaRPr>
          </a:p>
          <a:p>
            <a:pPr marL="756285" marR="31115" lvl="1" indent="-287020">
              <a:lnSpc>
                <a:spcPts val="2160"/>
              </a:lnSpc>
              <a:spcBef>
                <a:spcPts val="520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Adapters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 smtClean="0">
                <a:latin typeface="Times New Roman"/>
                <a:cs typeface="Times New Roman"/>
              </a:rPr>
              <a:t>can</a:t>
            </a:r>
            <a:r>
              <a:rPr sz="2000" spc="-10" dirty="0" smtClean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 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solution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motherboard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not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proper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port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device.</a:t>
            </a:r>
          </a:p>
          <a:p>
            <a:pPr marL="756285" lvl="1" indent="-287020">
              <a:lnSpc>
                <a:spcPts val="2280"/>
              </a:lnSpc>
              <a:spcBef>
                <a:spcPts val="235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Adapters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not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usually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signal;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simply</a:t>
            </a:r>
            <a:endParaRPr sz="2000" dirty="0">
              <a:latin typeface="Times New Roman"/>
              <a:cs typeface="Times New Roman"/>
            </a:endParaRPr>
          </a:p>
          <a:p>
            <a:pPr marL="756285">
              <a:lnSpc>
                <a:spcPts val="2280"/>
              </a:lnSpc>
            </a:pPr>
            <a:r>
              <a:rPr sz="2000" dirty="0">
                <a:latin typeface="Times New Roman"/>
                <a:cs typeface="Times New Roman"/>
              </a:rPr>
              <a:t>redirect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another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pin</a:t>
            </a:r>
            <a:r>
              <a:rPr sz="2000" dirty="0" smtClean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78763" y="1405089"/>
            <a:ext cx="11383010" cy="2992120"/>
            <a:chOff x="778763" y="1405089"/>
            <a:chExt cx="11383010" cy="299212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8763" y="1405089"/>
              <a:ext cx="3678936" cy="15853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8199" y="1444752"/>
              <a:ext cx="3564636" cy="4572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86456" y="1450809"/>
              <a:ext cx="4486656" cy="15853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45891" y="1490472"/>
              <a:ext cx="4372356" cy="4572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60435" y="1690116"/>
              <a:ext cx="4101083" cy="27066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8468" y="4454652"/>
            <a:ext cx="2063496" cy="20223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26440"/>
            <a:ext cx="62452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Cases</a:t>
            </a:r>
            <a:r>
              <a:rPr spc="-5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5" dirty="0"/>
              <a:t>Power</a:t>
            </a:r>
            <a:r>
              <a:rPr spc="-114" dirty="0"/>
              <a:t> </a:t>
            </a:r>
            <a:r>
              <a:rPr dirty="0"/>
              <a:t>Supplies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649604"/>
            <a:ext cx="6423025" cy="447421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4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5" dirty="0">
                <a:latin typeface="Times New Roman"/>
                <a:cs typeface="Times New Roman"/>
              </a:rPr>
              <a:t>Cases</a:t>
            </a:r>
            <a:endParaRPr sz="22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200" spc="-10" dirty="0">
                <a:latin typeface="Times New Roman"/>
                <a:cs typeface="Times New Roman"/>
              </a:rPr>
              <a:t>Size</a:t>
            </a:r>
            <a:r>
              <a:rPr sz="2200" spc="-5" dirty="0">
                <a:latin typeface="Times New Roman"/>
                <a:cs typeface="Times New Roman"/>
              </a:rPr>
              <a:t> and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Layout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 called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“</a:t>
            </a:r>
            <a:r>
              <a:rPr sz="2200" b="1" spc="-5" dirty="0">
                <a:latin typeface="Times New Roman"/>
                <a:cs typeface="Times New Roman"/>
              </a:rPr>
              <a:t>Form</a:t>
            </a:r>
            <a:r>
              <a:rPr sz="2200" b="1" spc="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Factor</a:t>
            </a:r>
            <a:r>
              <a:rPr sz="2200" spc="-5" dirty="0">
                <a:latin typeface="Times New Roman"/>
                <a:cs typeface="Times New Roman"/>
              </a:rPr>
              <a:t>”</a:t>
            </a:r>
            <a:endParaRPr sz="22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Influences 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motherboard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form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factor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choice</a:t>
            </a:r>
            <a:endParaRPr sz="22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Must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allow for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good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air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flow</a:t>
            </a:r>
            <a:endParaRPr sz="22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200" spc="-25" dirty="0">
                <a:latin typeface="Times New Roman"/>
                <a:cs typeface="Times New Roman"/>
              </a:rPr>
              <a:t>Available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different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sizes</a:t>
            </a:r>
            <a:endParaRPr sz="2200" dirty="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5" dirty="0">
                <a:latin typeface="Times New Roman"/>
                <a:cs typeface="Times New Roman"/>
              </a:rPr>
              <a:t>Power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Supplies</a:t>
            </a:r>
            <a:endParaRPr sz="22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Provides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power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 all computer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components.</a:t>
            </a:r>
            <a:endParaRPr sz="22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Must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chosen based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current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future </a:t>
            </a:r>
            <a:r>
              <a:rPr sz="2200" spc="-5" dirty="0">
                <a:latin typeface="Times New Roman"/>
                <a:cs typeface="Times New Roman"/>
              </a:rPr>
              <a:t>needs.</a:t>
            </a:r>
            <a:endParaRPr sz="2200" dirty="0">
              <a:latin typeface="Times New Roman"/>
              <a:cs typeface="Times New Roman"/>
            </a:endParaRPr>
          </a:p>
          <a:p>
            <a:pPr marL="756285" marR="254635" lvl="1" indent="-287020">
              <a:lnSpc>
                <a:spcPts val="2380"/>
              </a:lnSpc>
              <a:spcBef>
                <a:spcPts val="540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Deliver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different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voltage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levels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meet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different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internal component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needs.</a:t>
            </a:r>
            <a:endParaRPr sz="2200" dirty="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spc="-5" dirty="0">
                <a:latin typeface="Times New Roman"/>
                <a:cs typeface="Times New Roman"/>
              </a:rPr>
              <a:t>Power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Supply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30" dirty="0">
                <a:latin typeface="Times New Roman"/>
                <a:cs typeface="Times New Roman"/>
              </a:rPr>
              <a:t>Wattage</a:t>
            </a:r>
            <a:endParaRPr sz="22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P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=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V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x</a:t>
            </a:r>
            <a:r>
              <a:rPr sz="2200" spc="-1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endParaRPr sz="2200" dirty="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96111" y="1453857"/>
            <a:ext cx="10841990" cy="2844165"/>
            <a:chOff x="896111" y="1453857"/>
            <a:chExt cx="10841990" cy="284416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6111" y="1453857"/>
              <a:ext cx="3678936" cy="15853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5547" y="1493519"/>
              <a:ext cx="3564636" cy="4572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03804" y="1499577"/>
              <a:ext cx="4486656" cy="15853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63239" y="1539239"/>
              <a:ext cx="4372356" cy="4572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32647" y="1493519"/>
              <a:ext cx="3505200" cy="28041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3684" y="89725"/>
            <a:ext cx="10515600" cy="13255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Best</a:t>
            </a:r>
            <a:r>
              <a:rPr spc="-70" dirty="0"/>
              <a:t> </a:t>
            </a:r>
            <a:r>
              <a:rPr dirty="0"/>
              <a:t>Practices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66859" y="2010155"/>
            <a:ext cx="2473452" cy="242468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316736" y="2115537"/>
          <a:ext cx="6630034" cy="34383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81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6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1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6850">
                <a:tc>
                  <a:txBody>
                    <a:bodyPr/>
                    <a:lstStyle/>
                    <a:p>
                      <a:pPr marL="267970" indent="-236220">
                        <a:lnSpc>
                          <a:spcPts val="1980"/>
                        </a:lnSpc>
                        <a:buClr>
                          <a:srgbClr val="6F8BA0"/>
                        </a:buClr>
                        <a:buFont typeface="Wingdings"/>
                        <a:buChar char=""/>
                        <a:tabLst>
                          <a:tab pos="267335" algn="l"/>
                          <a:tab pos="267970" algn="l"/>
                        </a:tabLst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Motherboard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198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35W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(low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end)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ts val="198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75W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(high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end)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921">
                <a:tc>
                  <a:txBody>
                    <a:bodyPr/>
                    <a:lstStyle/>
                    <a:p>
                      <a:pPr marL="267970" indent="-236220">
                        <a:lnSpc>
                          <a:spcPct val="100000"/>
                        </a:lnSpc>
                        <a:spcBef>
                          <a:spcPts val="380"/>
                        </a:spcBef>
                        <a:buClr>
                          <a:srgbClr val="6F8BA0"/>
                        </a:buClr>
                        <a:buFont typeface="Wingdings"/>
                        <a:buChar char=""/>
                        <a:tabLst>
                          <a:tab pos="267335" algn="l"/>
                          <a:tab pos="267970" algn="l"/>
                        </a:tabLst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CPU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77W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(low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end)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/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120W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(top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end)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267970" indent="-236220">
                        <a:lnSpc>
                          <a:spcPct val="100000"/>
                        </a:lnSpc>
                        <a:spcBef>
                          <a:spcPts val="380"/>
                        </a:spcBef>
                        <a:buClr>
                          <a:srgbClr val="6F8BA0"/>
                        </a:buClr>
                        <a:buFont typeface="Wingdings"/>
                        <a:buChar char=""/>
                        <a:tabLst>
                          <a:tab pos="267335" algn="l"/>
                          <a:tab pos="267970" algn="l"/>
                        </a:tabLst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Memory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3W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(low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end)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/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4.5W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(high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end)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*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890">
                <a:tc>
                  <a:txBody>
                    <a:bodyPr/>
                    <a:lstStyle/>
                    <a:p>
                      <a:pPr marL="267970" indent="-236220">
                        <a:lnSpc>
                          <a:spcPct val="100000"/>
                        </a:lnSpc>
                        <a:spcBef>
                          <a:spcPts val="380"/>
                        </a:spcBef>
                        <a:buClr>
                          <a:srgbClr val="6F8BA0"/>
                        </a:buClr>
                        <a:buFont typeface="Wingdings"/>
                        <a:buChar char=""/>
                        <a:tabLst>
                          <a:tab pos="267335" algn="l"/>
                          <a:tab pos="267970" algn="l"/>
                        </a:tabLst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Video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Card(s)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70W(low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end)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/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470W(top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end)**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93609">
                <a:tc>
                  <a:txBody>
                    <a:bodyPr/>
                    <a:lstStyle/>
                    <a:p>
                      <a:pPr marL="267970" indent="-236220">
                        <a:lnSpc>
                          <a:spcPct val="100000"/>
                        </a:lnSpc>
                        <a:spcBef>
                          <a:spcPts val="380"/>
                        </a:spcBef>
                        <a:buClr>
                          <a:srgbClr val="6F8BA0"/>
                        </a:buClr>
                        <a:buFont typeface="Wingdings"/>
                        <a:buChar char=""/>
                        <a:tabLst>
                          <a:tab pos="267335" algn="l"/>
                          <a:tab pos="267970" algn="l"/>
                        </a:tabLst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SSD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Drive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67970" indent="-236220">
                        <a:lnSpc>
                          <a:spcPct val="100000"/>
                        </a:lnSpc>
                        <a:spcBef>
                          <a:spcPts val="969"/>
                        </a:spcBef>
                        <a:buClr>
                          <a:srgbClr val="6F8BA0"/>
                        </a:buClr>
                        <a:buFont typeface="Wingdings"/>
                        <a:buChar char=""/>
                        <a:tabLst>
                          <a:tab pos="267335" algn="l"/>
                          <a:tab pos="267970" algn="l"/>
                        </a:tabLst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3.5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HDD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Drive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67970" indent="-236220">
                        <a:lnSpc>
                          <a:spcPct val="100000"/>
                        </a:lnSpc>
                        <a:spcBef>
                          <a:spcPts val="975"/>
                        </a:spcBef>
                        <a:buClr>
                          <a:srgbClr val="6F8BA0"/>
                        </a:buClr>
                        <a:buFont typeface="Wingdings"/>
                        <a:buChar char=""/>
                        <a:tabLst>
                          <a:tab pos="267335" algn="l"/>
                          <a:tab pos="267970" algn="l"/>
                        </a:tabLst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SATA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Blu-ray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Drive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1.5W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3925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7.5W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795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30W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4307">
                <a:tc>
                  <a:txBody>
                    <a:bodyPr/>
                    <a:lstStyle/>
                    <a:p>
                      <a:pPr marL="267970" indent="-236220">
                        <a:lnSpc>
                          <a:spcPct val="100000"/>
                        </a:lnSpc>
                        <a:spcBef>
                          <a:spcPts val="380"/>
                        </a:spcBef>
                        <a:buClr>
                          <a:srgbClr val="6F8BA0"/>
                        </a:buClr>
                        <a:buFont typeface="Wingdings"/>
                        <a:buChar char=""/>
                        <a:tabLst>
                          <a:tab pos="267335" algn="l"/>
                          <a:tab pos="267970" algn="l"/>
                        </a:tabLst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SATA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DVD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Drive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67970" indent="-236220">
                        <a:lnSpc>
                          <a:spcPts val="2090"/>
                        </a:lnSpc>
                        <a:spcBef>
                          <a:spcPts val="969"/>
                        </a:spcBef>
                        <a:buClr>
                          <a:srgbClr val="6F8BA0"/>
                        </a:buClr>
                        <a:buFont typeface="Wingdings"/>
                        <a:buChar char=""/>
                        <a:tabLst>
                          <a:tab pos="267335" algn="l"/>
                          <a:tab pos="267970" algn="l"/>
                        </a:tabLst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80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mm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Case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Fan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(2,000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RPM)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/>
                </a:tc>
                <a:tc>
                  <a:txBody>
                    <a:bodyPr/>
                    <a:lstStyle/>
                    <a:p>
                      <a:pPr marL="92392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20W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7950">
                        <a:lnSpc>
                          <a:spcPts val="2090"/>
                        </a:lnSpc>
                        <a:spcBef>
                          <a:spcPts val="969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1.5W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335786" y="5660847"/>
            <a:ext cx="7783195" cy="95885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2050"/>
              </a:lnSpc>
              <a:spcBef>
                <a:spcPts val="259"/>
              </a:spcBef>
            </a:pPr>
            <a:r>
              <a:rPr sz="1800" dirty="0">
                <a:latin typeface="Times New Roman"/>
                <a:cs typeface="Times New Roman"/>
              </a:rPr>
              <a:t>(*)</a:t>
            </a:r>
            <a:r>
              <a:rPr sz="1800" spc="-5" dirty="0">
                <a:latin typeface="Times New Roman"/>
                <a:cs typeface="Times New Roman"/>
              </a:rPr>
              <a:t> DDR3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memory </a:t>
            </a:r>
            <a:r>
              <a:rPr sz="1800" dirty="0">
                <a:latin typeface="Times New Roman"/>
                <a:cs typeface="Times New Roman"/>
              </a:rPr>
              <a:t>operates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 lower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voltages;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lower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voltages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lead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 lower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power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consumption.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800" dirty="0">
                <a:latin typeface="Times New Roman"/>
                <a:cs typeface="Times New Roman"/>
              </a:rPr>
              <a:t>(**)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under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heavy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operation.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4988" y="1119716"/>
            <a:ext cx="8662035" cy="862330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400" b="1" spc="-5" dirty="0">
                <a:latin typeface="Times New Roman"/>
                <a:cs typeface="Times New Roman"/>
              </a:rPr>
              <a:t>Impact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each device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in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the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overall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computer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power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consumption.</a:t>
            </a:r>
            <a:endParaRPr sz="2400">
              <a:latin typeface="Times New Roman"/>
              <a:cs typeface="Times New Roman"/>
            </a:endParaRPr>
          </a:p>
          <a:p>
            <a:pPr marL="193040">
              <a:lnSpc>
                <a:spcPct val="100000"/>
              </a:lnSpc>
              <a:spcBef>
                <a:spcPts val="665"/>
              </a:spcBef>
            </a:pPr>
            <a:r>
              <a:rPr sz="1800" dirty="0">
                <a:latin typeface="Times New Roman"/>
                <a:cs typeface="Times New Roman"/>
              </a:rPr>
              <a:t>Below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 </a:t>
            </a:r>
            <a:r>
              <a:rPr sz="1800" spc="-5" dirty="0">
                <a:latin typeface="Times New Roman"/>
                <a:cs typeface="Times New Roman"/>
              </a:rPr>
              <a:t>some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common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computer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components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 their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average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power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consumption: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050572" y="4553406"/>
            <a:ext cx="3075305" cy="1909445"/>
            <a:chOff x="9050572" y="4553406"/>
            <a:chExt cx="3075305" cy="1909445"/>
          </a:xfrm>
        </p:grpSpPr>
        <p:sp>
          <p:nvSpPr>
            <p:cNvPr id="8" name="object 8"/>
            <p:cNvSpPr/>
            <p:nvPr/>
          </p:nvSpPr>
          <p:spPr>
            <a:xfrm>
              <a:off x="9056922" y="4559756"/>
              <a:ext cx="3062605" cy="1896745"/>
            </a:xfrm>
            <a:custGeom>
              <a:avLst/>
              <a:gdLst/>
              <a:ahLst/>
              <a:cxnLst/>
              <a:rect l="l" t="t" r="r" b="b"/>
              <a:pathLst>
                <a:path w="3062604" h="1896745">
                  <a:moveTo>
                    <a:pt x="1560398" y="31"/>
                  </a:moveTo>
                  <a:lnTo>
                    <a:pt x="1507784" y="0"/>
                  </a:lnTo>
                  <a:lnTo>
                    <a:pt x="1455292" y="962"/>
                  </a:lnTo>
                  <a:lnTo>
                    <a:pt x="1402969" y="2911"/>
                  </a:lnTo>
                  <a:lnTo>
                    <a:pt x="1350861" y="5839"/>
                  </a:lnTo>
                  <a:lnTo>
                    <a:pt x="1299018" y="9740"/>
                  </a:lnTo>
                  <a:lnTo>
                    <a:pt x="1247484" y="14606"/>
                  </a:lnTo>
                  <a:lnTo>
                    <a:pt x="1196308" y="20429"/>
                  </a:lnTo>
                  <a:lnTo>
                    <a:pt x="1145537" y="27203"/>
                  </a:lnTo>
                  <a:lnTo>
                    <a:pt x="1095217" y="34920"/>
                  </a:lnTo>
                  <a:lnTo>
                    <a:pt x="1045396" y="43573"/>
                  </a:lnTo>
                  <a:lnTo>
                    <a:pt x="996121" y="53155"/>
                  </a:lnTo>
                  <a:lnTo>
                    <a:pt x="947439" y="63658"/>
                  </a:lnTo>
                  <a:lnTo>
                    <a:pt x="899398" y="75076"/>
                  </a:lnTo>
                  <a:lnTo>
                    <a:pt x="852043" y="87400"/>
                  </a:lnTo>
                  <a:lnTo>
                    <a:pt x="805423" y="100625"/>
                  </a:lnTo>
                  <a:lnTo>
                    <a:pt x="759585" y="114742"/>
                  </a:lnTo>
                  <a:lnTo>
                    <a:pt x="714575" y="129744"/>
                  </a:lnTo>
                  <a:lnTo>
                    <a:pt x="670440" y="145624"/>
                  </a:lnTo>
                  <a:lnTo>
                    <a:pt x="627229" y="162375"/>
                  </a:lnTo>
                  <a:lnTo>
                    <a:pt x="584987" y="179990"/>
                  </a:lnTo>
                  <a:lnTo>
                    <a:pt x="543763" y="198461"/>
                  </a:lnTo>
                  <a:lnTo>
                    <a:pt x="503603" y="217781"/>
                  </a:lnTo>
                  <a:lnTo>
                    <a:pt x="464554" y="237943"/>
                  </a:lnTo>
                  <a:lnTo>
                    <a:pt x="426663" y="258940"/>
                  </a:lnTo>
                  <a:lnTo>
                    <a:pt x="389978" y="280763"/>
                  </a:lnTo>
                  <a:lnTo>
                    <a:pt x="354546" y="303408"/>
                  </a:lnTo>
                  <a:lnTo>
                    <a:pt x="320413" y="326864"/>
                  </a:lnTo>
                  <a:lnTo>
                    <a:pt x="287627" y="351127"/>
                  </a:lnTo>
                  <a:lnTo>
                    <a:pt x="256235" y="376188"/>
                  </a:lnTo>
                  <a:lnTo>
                    <a:pt x="226284" y="402040"/>
                  </a:lnTo>
                  <a:lnTo>
                    <a:pt x="197821" y="428676"/>
                  </a:lnTo>
                  <a:lnTo>
                    <a:pt x="166415" y="460899"/>
                  </a:lnTo>
                  <a:lnTo>
                    <a:pt x="137795" y="493529"/>
                  </a:lnTo>
                  <a:lnTo>
                    <a:pt x="111938" y="526525"/>
                  </a:lnTo>
                  <a:lnTo>
                    <a:pt x="88823" y="559844"/>
                  </a:lnTo>
                  <a:lnTo>
                    <a:pt x="68429" y="593441"/>
                  </a:lnTo>
                  <a:lnTo>
                    <a:pt x="50732" y="627274"/>
                  </a:lnTo>
                  <a:lnTo>
                    <a:pt x="23348" y="695476"/>
                  </a:lnTo>
                  <a:lnTo>
                    <a:pt x="6495" y="764105"/>
                  </a:lnTo>
                  <a:lnTo>
                    <a:pt x="0" y="832817"/>
                  </a:lnTo>
                  <a:lnTo>
                    <a:pt x="581" y="867096"/>
                  </a:lnTo>
                  <a:lnTo>
                    <a:pt x="9295" y="935285"/>
                  </a:lnTo>
                  <a:lnTo>
                    <a:pt x="27930" y="1002696"/>
                  </a:lnTo>
                  <a:lnTo>
                    <a:pt x="56312" y="1068983"/>
                  </a:lnTo>
                  <a:lnTo>
                    <a:pt x="94266" y="1133803"/>
                  </a:lnTo>
                  <a:lnTo>
                    <a:pt x="116778" y="1165554"/>
                  </a:lnTo>
                  <a:lnTo>
                    <a:pt x="141618" y="1196809"/>
                  </a:lnTo>
                  <a:lnTo>
                    <a:pt x="168764" y="1227525"/>
                  </a:lnTo>
                  <a:lnTo>
                    <a:pt x="198194" y="1257659"/>
                  </a:lnTo>
                  <a:lnTo>
                    <a:pt x="229887" y="1287167"/>
                  </a:lnTo>
                  <a:lnTo>
                    <a:pt x="263820" y="1316007"/>
                  </a:lnTo>
                  <a:lnTo>
                    <a:pt x="299971" y="1344135"/>
                  </a:lnTo>
                  <a:lnTo>
                    <a:pt x="338320" y="1371509"/>
                  </a:lnTo>
                  <a:lnTo>
                    <a:pt x="378843" y="1398085"/>
                  </a:lnTo>
                  <a:lnTo>
                    <a:pt x="421520" y="1423820"/>
                  </a:lnTo>
                  <a:lnTo>
                    <a:pt x="466329" y="1448671"/>
                  </a:lnTo>
                  <a:lnTo>
                    <a:pt x="513247" y="1472596"/>
                  </a:lnTo>
                  <a:lnTo>
                    <a:pt x="562253" y="1495550"/>
                  </a:lnTo>
                  <a:lnTo>
                    <a:pt x="613325" y="1517492"/>
                  </a:lnTo>
                  <a:lnTo>
                    <a:pt x="666441" y="1538377"/>
                  </a:lnTo>
                  <a:lnTo>
                    <a:pt x="721580" y="1558163"/>
                  </a:lnTo>
                  <a:lnTo>
                    <a:pt x="778719" y="1576807"/>
                  </a:lnTo>
                  <a:lnTo>
                    <a:pt x="893273" y="1896288"/>
                  </a:lnTo>
                  <a:lnTo>
                    <a:pt x="1332947" y="1678509"/>
                  </a:lnTo>
                  <a:lnTo>
                    <a:pt x="1389164" y="1681970"/>
                  </a:lnTo>
                  <a:lnTo>
                    <a:pt x="1445262" y="1684281"/>
                  </a:lnTo>
                  <a:lnTo>
                    <a:pt x="1501191" y="1685454"/>
                  </a:lnTo>
                  <a:lnTo>
                    <a:pt x="1556905" y="1685503"/>
                  </a:lnTo>
                  <a:lnTo>
                    <a:pt x="1612357" y="1684441"/>
                  </a:lnTo>
                  <a:lnTo>
                    <a:pt x="1667497" y="1682281"/>
                  </a:lnTo>
                  <a:lnTo>
                    <a:pt x="1722279" y="1679036"/>
                  </a:lnTo>
                  <a:lnTo>
                    <a:pt x="1776654" y="1674719"/>
                  </a:lnTo>
                  <a:lnTo>
                    <a:pt x="1830576" y="1669344"/>
                  </a:lnTo>
                  <a:lnTo>
                    <a:pt x="1883995" y="1662924"/>
                  </a:lnTo>
                  <a:lnTo>
                    <a:pt x="1936865" y="1655471"/>
                  </a:lnTo>
                  <a:lnTo>
                    <a:pt x="1989138" y="1647000"/>
                  </a:lnTo>
                  <a:lnTo>
                    <a:pt x="2040765" y="1637522"/>
                  </a:lnTo>
                  <a:lnTo>
                    <a:pt x="2091700" y="1627052"/>
                  </a:lnTo>
                  <a:lnTo>
                    <a:pt x="2141894" y="1615602"/>
                  </a:lnTo>
                  <a:lnTo>
                    <a:pt x="2191300" y="1603186"/>
                  </a:lnTo>
                  <a:lnTo>
                    <a:pt x="2239870" y="1589816"/>
                  </a:lnTo>
                  <a:lnTo>
                    <a:pt x="2287556" y="1575506"/>
                  </a:lnTo>
                  <a:lnTo>
                    <a:pt x="2334310" y="1560269"/>
                  </a:lnTo>
                  <a:lnTo>
                    <a:pt x="2380085" y="1544119"/>
                  </a:lnTo>
                  <a:lnTo>
                    <a:pt x="2424833" y="1527067"/>
                  </a:lnTo>
                  <a:lnTo>
                    <a:pt x="2468506" y="1509128"/>
                  </a:lnTo>
                  <a:lnTo>
                    <a:pt x="2511057" y="1490315"/>
                  </a:lnTo>
                  <a:lnTo>
                    <a:pt x="2552437" y="1470640"/>
                  </a:lnTo>
                  <a:lnTo>
                    <a:pt x="2592599" y="1450118"/>
                  </a:lnTo>
                  <a:lnTo>
                    <a:pt x="2631495" y="1428760"/>
                  </a:lnTo>
                  <a:lnTo>
                    <a:pt x="2669077" y="1406581"/>
                  </a:lnTo>
                  <a:lnTo>
                    <a:pt x="2705299" y="1383593"/>
                  </a:lnTo>
                  <a:lnTo>
                    <a:pt x="2740111" y="1359809"/>
                  </a:lnTo>
                  <a:lnTo>
                    <a:pt x="2773466" y="1335243"/>
                  </a:lnTo>
                  <a:lnTo>
                    <a:pt x="2805317" y="1309908"/>
                  </a:lnTo>
                  <a:lnTo>
                    <a:pt x="2835615" y="1283817"/>
                  </a:lnTo>
                  <a:lnTo>
                    <a:pt x="2864313" y="1256983"/>
                  </a:lnTo>
                  <a:lnTo>
                    <a:pt x="2895719" y="1224760"/>
                  </a:lnTo>
                  <a:lnTo>
                    <a:pt x="2924340" y="1192128"/>
                  </a:lnTo>
                  <a:lnTo>
                    <a:pt x="2950197" y="1159132"/>
                  </a:lnTo>
                  <a:lnTo>
                    <a:pt x="2973311" y="1125813"/>
                  </a:lnTo>
                  <a:lnTo>
                    <a:pt x="2993706" y="1092216"/>
                  </a:lnTo>
                  <a:lnTo>
                    <a:pt x="3011402" y="1058383"/>
                  </a:lnTo>
                  <a:lnTo>
                    <a:pt x="3038787" y="990181"/>
                  </a:lnTo>
                  <a:lnTo>
                    <a:pt x="3055640" y="921553"/>
                  </a:lnTo>
                  <a:lnTo>
                    <a:pt x="3062135" y="852843"/>
                  </a:lnTo>
                  <a:lnTo>
                    <a:pt x="3061553" y="818565"/>
                  </a:lnTo>
                  <a:lnTo>
                    <a:pt x="3052840" y="750378"/>
                  </a:lnTo>
                  <a:lnTo>
                    <a:pt x="3034205" y="682970"/>
                  </a:lnTo>
                  <a:lnTo>
                    <a:pt x="3005823" y="616685"/>
                  </a:lnTo>
                  <a:lnTo>
                    <a:pt x="2967869" y="551869"/>
                  </a:lnTo>
                  <a:lnTo>
                    <a:pt x="2945356" y="520119"/>
                  </a:lnTo>
                  <a:lnTo>
                    <a:pt x="2920516" y="488866"/>
                  </a:lnTo>
                  <a:lnTo>
                    <a:pt x="2893370" y="458151"/>
                  </a:lnTo>
                  <a:lnTo>
                    <a:pt x="2863940" y="428019"/>
                  </a:lnTo>
                  <a:lnTo>
                    <a:pt x="2832248" y="398513"/>
                  </a:lnTo>
                  <a:lnTo>
                    <a:pt x="2798315" y="369675"/>
                  </a:lnTo>
                  <a:lnTo>
                    <a:pt x="2762163" y="341548"/>
                  </a:lnTo>
                  <a:lnTo>
                    <a:pt x="2723815" y="314176"/>
                  </a:lnTo>
                  <a:lnTo>
                    <a:pt x="2683291" y="287602"/>
                  </a:lnTo>
                  <a:lnTo>
                    <a:pt x="2640614" y="261868"/>
                  </a:lnTo>
                  <a:lnTo>
                    <a:pt x="2595806" y="237018"/>
                  </a:lnTo>
                  <a:lnTo>
                    <a:pt x="2548888" y="213095"/>
                  </a:lnTo>
                  <a:lnTo>
                    <a:pt x="2499882" y="190142"/>
                  </a:lnTo>
                  <a:lnTo>
                    <a:pt x="2448810" y="168202"/>
                  </a:lnTo>
                  <a:lnTo>
                    <a:pt x="2395694" y="147318"/>
                  </a:lnTo>
                  <a:lnTo>
                    <a:pt x="2340555" y="127533"/>
                  </a:lnTo>
                  <a:lnTo>
                    <a:pt x="2283415" y="108890"/>
                  </a:lnTo>
                  <a:lnTo>
                    <a:pt x="2234041" y="94183"/>
                  </a:lnTo>
                  <a:lnTo>
                    <a:pt x="2184129" y="80572"/>
                  </a:lnTo>
                  <a:lnTo>
                    <a:pt x="2133727" y="68048"/>
                  </a:lnTo>
                  <a:lnTo>
                    <a:pt x="2082881" y="56606"/>
                  </a:lnTo>
                  <a:lnTo>
                    <a:pt x="2031639" y="46237"/>
                  </a:lnTo>
                  <a:lnTo>
                    <a:pt x="1980047" y="36934"/>
                  </a:lnTo>
                  <a:lnTo>
                    <a:pt x="1928154" y="28690"/>
                  </a:lnTo>
                  <a:lnTo>
                    <a:pt x="1876005" y="21498"/>
                  </a:lnTo>
                  <a:lnTo>
                    <a:pt x="1823649" y="15351"/>
                  </a:lnTo>
                  <a:lnTo>
                    <a:pt x="1771132" y="10241"/>
                  </a:lnTo>
                  <a:lnTo>
                    <a:pt x="1718501" y="6162"/>
                  </a:lnTo>
                  <a:lnTo>
                    <a:pt x="1665804" y="3105"/>
                  </a:lnTo>
                  <a:lnTo>
                    <a:pt x="1613087" y="1064"/>
                  </a:lnTo>
                  <a:lnTo>
                    <a:pt x="1560398" y="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56922" y="4559756"/>
              <a:ext cx="3062605" cy="1896745"/>
            </a:xfrm>
            <a:custGeom>
              <a:avLst/>
              <a:gdLst/>
              <a:ahLst/>
              <a:cxnLst/>
              <a:rect l="l" t="t" r="r" b="b"/>
              <a:pathLst>
                <a:path w="3062604" h="1896745">
                  <a:moveTo>
                    <a:pt x="893273" y="1896288"/>
                  </a:moveTo>
                  <a:lnTo>
                    <a:pt x="778719" y="1576807"/>
                  </a:lnTo>
                  <a:lnTo>
                    <a:pt x="721580" y="1558163"/>
                  </a:lnTo>
                  <a:lnTo>
                    <a:pt x="666441" y="1538377"/>
                  </a:lnTo>
                  <a:lnTo>
                    <a:pt x="613325" y="1517492"/>
                  </a:lnTo>
                  <a:lnTo>
                    <a:pt x="562253" y="1495550"/>
                  </a:lnTo>
                  <a:lnTo>
                    <a:pt x="513247" y="1472596"/>
                  </a:lnTo>
                  <a:lnTo>
                    <a:pt x="466329" y="1448671"/>
                  </a:lnTo>
                  <a:lnTo>
                    <a:pt x="421520" y="1423820"/>
                  </a:lnTo>
                  <a:lnTo>
                    <a:pt x="378843" y="1398085"/>
                  </a:lnTo>
                  <a:lnTo>
                    <a:pt x="338320" y="1371509"/>
                  </a:lnTo>
                  <a:lnTo>
                    <a:pt x="299971" y="1344135"/>
                  </a:lnTo>
                  <a:lnTo>
                    <a:pt x="263820" y="1316007"/>
                  </a:lnTo>
                  <a:lnTo>
                    <a:pt x="229887" y="1287167"/>
                  </a:lnTo>
                  <a:lnTo>
                    <a:pt x="198194" y="1257659"/>
                  </a:lnTo>
                  <a:lnTo>
                    <a:pt x="168764" y="1227525"/>
                  </a:lnTo>
                  <a:lnTo>
                    <a:pt x="141618" y="1196809"/>
                  </a:lnTo>
                  <a:lnTo>
                    <a:pt x="116778" y="1165554"/>
                  </a:lnTo>
                  <a:lnTo>
                    <a:pt x="94266" y="1133803"/>
                  </a:lnTo>
                  <a:lnTo>
                    <a:pt x="56312" y="1068983"/>
                  </a:lnTo>
                  <a:lnTo>
                    <a:pt x="27930" y="1002696"/>
                  </a:lnTo>
                  <a:lnTo>
                    <a:pt x="9295" y="935285"/>
                  </a:lnTo>
                  <a:lnTo>
                    <a:pt x="581" y="867096"/>
                  </a:lnTo>
                  <a:lnTo>
                    <a:pt x="0" y="832817"/>
                  </a:lnTo>
                  <a:lnTo>
                    <a:pt x="1963" y="798472"/>
                  </a:lnTo>
                  <a:lnTo>
                    <a:pt x="13616" y="729759"/>
                  </a:lnTo>
                  <a:lnTo>
                    <a:pt x="35713" y="661300"/>
                  </a:lnTo>
                  <a:lnTo>
                    <a:pt x="68429" y="593441"/>
                  </a:lnTo>
                  <a:lnTo>
                    <a:pt x="88823" y="559844"/>
                  </a:lnTo>
                  <a:lnTo>
                    <a:pt x="111938" y="526525"/>
                  </a:lnTo>
                  <a:lnTo>
                    <a:pt x="137795" y="493529"/>
                  </a:lnTo>
                  <a:lnTo>
                    <a:pt x="166415" y="460899"/>
                  </a:lnTo>
                  <a:lnTo>
                    <a:pt x="197821" y="428676"/>
                  </a:lnTo>
                  <a:lnTo>
                    <a:pt x="226284" y="402040"/>
                  </a:lnTo>
                  <a:lnTo>
                    <a:pt x="256235" y="376188"/>
                  </a:lnTo>
                  <a:lnTo>
                    <a:pt x="287627" y="351127"/>
                  </a:lnTo>
                  <a:lnTo>
                    <a:pt x="320413" y="326864"/>
                  </a:lnTo>
                  <a:lnTo>
                    <a:pt x="354546" y="303408"/>
                  </a:lnTo>
                  <a:lnTo>
                    <a:pt x="389978" y="280763"/>
                  </a:lnTo>
                  <a:lnTo>
                    <a:pt x="426663" y="258940"/>
                  </a:lnTo>
                  <a:lnTo>
                    <a:pt x="464554" y="237943"/>
                  </a:lnTo>
                  <a:lnTo>
                    <a:pt x="503603" y="217781"/>
                  </a:lnTo>
                  <a:lnTo>
                    <a:pt x="543763" y="198461"/>
                  </a:lnTo>
                  <a:lnTo>
                    <a:pt x="584987" y="179990"/>
                  </a:lnTo>
                  <a:lnTo>
                    <a:pt x="627229" y="162375"/>
                  </a:lnTo>
                  <a:lnTo>
                    <a:pt x="670440" y="145624"/>
                  </a:lnTo>
                  <a:lnTo>
                    <a:pt x="714575" y="129744"/>
                  </a:lnTo>
                  <a:lnTo>
                    <a:pt x="759585" y="114742"/>
                  </a:lnTo>
                  <a:lnTo>
                    <a:pt x="805423" y="100625"/>
                  </a:lnTo>
                  <a:lnTo>
                    <a:pt x="852043" y="87400"/>
                  </a:lnTo>
                  <a:lnTo>
                    <a:pt x="899398" y="75076"/>
                  </a:lnTo>
                  <a:lnTo>
                    <a:pt x="947439" y="63658"/>
                  </a:lnTo>
                  <a:lnTo>
                    <a:pt x="996121" y="53155"/>
                  </a:lnTo>
                  <a:lnTo>
                    <a:pt x="1045396" y="43573"/>
                  </a:lnTo>
                  <a:lnTo>
                    <a:pt x="1095217" y="34920"/>
                  </a:lnTo>
                  <a:lnTo>
                    <a:pt x="1145537" y="27203"/>
                  </a:lnTo>
                  <a:lnTo>
                    <a:pt x="1196308" y="20429"/>
                  </a:lnTo>
                  <a:lnTo>
                    <a:pt x="1247484" y="14606"/>
                  </a:lnTo>
                  <a:lnTo>
                    <a:pt x="1299018" y="9740"/>
                  </a:lnTo>
                  <a:lnTo>
                    <a:pt x="1350861" y="5839"/>
                  </a:lnTo>
                  <a:lnTo>
                    <a:pt x="1402969" y="2911"/>
                  </a:lnTo>
                  <a:lnTo>
                    <a:pt x="1455292" y="962"/>
                  </a:lnTo>
                  <a:lnTo>
                    <a:pt x="1507784" y="0"/>
                  </a:lnTo>
                  <a:lnTo>
                    <a:pt x="1560398" y="31"/>
                  </a:lnTo>
                  <a:lnTo>
                    <a:pt x="1613087" y="1064"/>
                  </a:lnTo>
                  <a:lnTo>
                    <a:pt x="1665804" y="3105"/>
                  </a:lnTo>
                  <a:lnTo>
                    <a:pt x="1718501" y="6162"/>
                  </a:lnTo>
                  <a:lnTo>
                    <a:pt x="1771132" y="10241"/>
                  </a:lnTo>
                  <a:lnTo>
                    <a:pt x="1823649" y="15351"/>
                  </a:lnTo>
                  <a:lnTo>
                    <a:pt x="1876005" y="21498"/>
                  </a:lnTo>
                  <a:lnTo>
                    <a:pt x="1928154" y="28690"/>
                  </a:lnTo>
                  <a:lnTo>
                    <a:pt x="1980047" y="36934"/>
                  </a:lnTo>
                  <a:lnTo>
                    <a:pt x="2031639" y="46237"/>
                  </a:lnTo>
                  <a:lnTo>
                    <a:pt x="2082881" y="56606"/>
                  </a:lnTo>
                  <a:lnTo>
                    <a:pt x="2133727" y="68048"/>
                  </a:lnTo>
                  <a:lnTo>
                    <a:pt x="2184129" y="80572"/>
                  </a:lnTo>
                  <a:lnTo>
                    <a:pt x="2234041" y="94183"/>
                  </a:lnTo>
                  <a:lnTo>
                    <a:pt x="2283415" y="108890"/>
                  </a:lnTo>
                  <a:lnTo>
                    <a:pt x="2340555" y="127533"/>
                  </a:lnTo>
                  <a:lnTo>
                    <a:pt x="2395694" y="147318"/>
                  </a:lnTo>
                  <a:lnTo>
                    <a:pt x="2448810" y="168202"/>
                  </a:lnTo>
                  <a:lnTo>
                    <a:pt x="2499882" y="190142"/>
                  </a:lnTo>
                  <a:lnTo>
                    <a:pt x="2548888" y="213095"/>
                  </a:lnTo>
                  <a:lnTo>
                    <a:pt x="2595806" y="237018"/>
                  </a:lnTo>
                  <a:lnTo>
                    <a:pt x="2640614" y="261868"/>
                  </a:lnTo>
                  <a:lnTo>
                    <a:pt x="2683291" y="287602"/>
                  </a:lnTo>
                  <a:lnTo>
                    <a:pt x="2723815" y="314176"/>
                  </a:lnTo>
                  <a:lnTo>
                    <a:pt x="2762163" y="341548"/>
                  </a:lnTo>
                  <a:lnTo>
                    <a:pt x="2798315" y="369675"/>
                  </a:lnTo>
                  <a:lnTo>
                    <a:pt x="2832248" y="398513"/>
                  </a:lnTo>
                  <a:lnTo>
                    <a:pt x="2863940" y="428019"/>
                  </a:lnTo>
                  <a:lnTo>
                    <a:pt x="2893370" y="458151"/>
                  </a:lnTo>
                  <a:lnTo>
                    <a:pt x="2920516" y="488866"/>
                  </a:lnTo>
                  <a:lnTo>
                    <a:pt x="2945356" y="520119"/>
                  </a:lnTo>
                  <a:lnTo>
                    <a:pt x="2967869" y="551869"/>
                  </a:lnTo>
                  <a:lnTo>
                    <a:pt x="3005823" y="616685"/>
                  </a:lnTo>
                  <a:lnTo>
                    <a:pt x="3034205" y="682970"/>
                  </a:lnTo>
                  <a:lnTo>
                    <a:pt x="3052840" y="750378"/>
                  </a:lnTo>
                  <a:lnTo>
                    <a:pt x="3061553" y="818565"/>
                  </a:lnTo>
                  <a:lnTo>
                    <a:pt x="3062135" y="852843"/>
                  </a:lnTo>
                  <a:lnTo>
                    <a:pt x="3060171" y="887187"/>
                  </a:lnTo>
                  <a:lnTo>
                    <a:pt x="3048519" y="955899"/>
                  </a:lnTo>
                  <a:lnTo>
                    <a:pt x="3026422" y="1024357"/>
                  </a:lnTo>
                  <a:lnTo>
                    <a:pt x="2993706" y="1092216"/>
                  </a:lnTo>
                  <a:lnTo>
                    <a:pt x="2973311" y="1125813"/>
                  </a:lnTo>
                  <a:lnTo>
                    <a:pt x="2950197" y="1159132"/>
                  </a:lnTo>
                  <a:lnTo>
                    <a:pt x="2924340" y="1192128"/>
                  </a:lnTo>
                  <a:lnTo>
                    <a:pt x="2895719" y="1224760"/>
                  </a:lnTo>
                  <a:lnTo>
                    <a:pt x="2864313" y="1256983"/>
                  </a:lnTo>
                  <a:lnTo>
                    <a:pt x="2835615" y="1283817"/>
                  </a:lnTo>
                  <a:lnTo>
                    <a:pt x="2805317" y="1309908"/>
                  </a:lnTo>
                  <a:lnTo>
                    <a:pt x="2773466" y="1335243"/>
                  </a:lnTo>
                  <a:lnTo>
                    <a:pt x="2740111" y="1359809"/>
                  </a:lnTo>
                  <a:lnTo>
                    <a:pt x="2705299" y="1383593"/>
                  </a:lnTo>
                  <a:lnTo>
                    <a:pt x="2669077" y="1406581"/>
                  </a:lnTo>
                  <a:lnTo>
                    <a:pt x="2631495" y="1428760"/>
                  </a:lnTo>
                  <a:lnTo>
                    <a:pt x="2592599" y="1450118"/>
                  </a:lnTo>
                  <a:lnTo>
                    <a:pt x="2552437" y="1470640"/>
                  </a:lnTo>
                  <a:lnTo>
                    <a:pt x="2511057" y="1490315"/>
                  </a:lnTo>
                  <a:lnTo>
                    <a:pt x="2468506" y="1509128"/>
                  </a:lnTo>
                  <a:lnTo>
                    <a:pt x="2424833" y="1527067"/>
                  </a:lnTo>
                  <a:lnTo>
                    <a:pt x="2380085" y="1544119"/>
                  </a:lnTo>
                  <a:lnTo>
                    <a:pt x="2334310" y="1560269"/>
                  </a:lnTo>
                  <a:lnTo>
                    <a:pt x="2287556" y="1575506"/>
                  </a:lnTo>
                  <a:lnTo>
                    <a:pt x="2239870" y="1589816"/>
                  </a:lnTo>
                  <a:lnTo>
                    <a:pt x="2191300" y="1603186"/>
                  </a:lnTo>
                  <a:lnTo>
                    <a:pt x="2141894" y="1615602"/>
                  </a:lnTo>
                  <a:lnTo>
                    <a:pt x="2091700" y="1627052"/>
                  </a:lnTo>
                  <a:lnTo>
                    <a:pt x="2040765" y="1637522"/>
                  </a:lnTo>
                  <a:lnTo>
                    <a:pt x="1989138" y="1647000"/>
                  </a:lnTo>
                  <a:lnTo>
                    <a:pt x="1936865" y="1655471"/>
                  </a:lnTo>
                  <a:lnTo>
                    <a:pt x="1883995" y="1662924"/>
                  </a:lnTo>
                  <a:lnTo>
                    <a:pt x="1830576" y="1669344"/>
                  </a:lnTo>
                  <a:lnTo>
                    <a:pt x="1776654" y="1674719"/>
                  </a:lnTo>
                  <a:lnTo>
                    <a:pt x="1722279" y="1679036"/>
                  </a:lnTo>
                  <a:lnTo>
                    <a:pt x="1667497" y="1682281"/>
                  </a:lnTo>
                  <a:lnTo>
                    <a:pt x="1612357" y="1684441"/>
                  </a:lnTo>
                  <a:lnTo>
                    <a:pt x="1556905" y="1685503"/>
                  </a:lnTo>
                  <a:lnTo>
                    <a:pt x="1501191" y="1685454"/>
                  </a:lnTo>
                  <a:lnTo>
                    <a:pt x="1445262" y="1684281"/>
                  </a:lnTo>
                  <a:lnTo>
                    <a:pt x="1389164" y="1681970"/>
                  </a:lnTo>
                  <a:lnTo>
                    <a:pt x="1332947" y="1678509"/>
                  </a:lnTo>
                  <a:lnTo>
                    <a:pt x="893273" y="1896288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603740" y="4744669"/>
            <a:ext cx="1966595" cy="1093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imes New Roman"/>
                <a:cs typeface="Times New Roman"/>
              </a:rPr>
              <a:t>A few devices still not 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accounted for are: </a:t>
            </a:r>
            <a:r>
              <a:rPr sz="1400" spc="-5" dirty="0">
                <a:latin typeface="Times New Roman"/>
                <a:cs typeface="Times New Roman"/>
              </a:rPr>
              <a:t>USB </a:t>
            </a:r>
            <a:r>
              <a:rPr sz="1400" dirty="0">
                <a:latin typeface="Times New Roman"/>
                <a:cs typeface="Times New Roman"/>
              </a:rPr>
              <a:t> drives without power 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15" dirty="0">
                <a:latin typeface="Times New Roman"/>
                <a:cs typeface="Times New Roman"/>
              </a:rPr>
              <a:t>supply,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adapter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cards,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extra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fans,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etc.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85672" y="1046949"/>
            <a:ext cx="6596380" cy="204470"/>
            <a:chOff x="1185672" y="1046949"/>
            <a:chExt cx="6596380" cy="20447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5672" y="1046949"/>
              <a:ext cx="3680460" cy="15853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45108" y="1086611"/>
              <a:ext cx="3566160" cy="4572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93364" y="1092669"/>
              <a:ext cx="4488180" cy="15853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52800" y="1132331"/>
              <a:ext cx="4373880" cy="457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6662" y="89253"/>
            <a:ext cx="10515600" cy="13255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Best</a:t>
            </a:r>
            <a:r>
              <a:rPr spc="-70" dirty="0"/>
              <a:t> </a:t>
            </a:r>
            <a:r>
              <a:rPr dirty="0"/>
              <a:t>Practices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51834" y="1046949"/>
            <a:ext cx="9893724" cy="4349217"/>
            <a:chOff x="1051834" y="1046949"/>
            <a:chExt cx="9893724" cy="4349217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5672" y="1046949"/>
              <a:ext cx="3680460" cy="158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5107" y="1086611"/>
              <a:ext cx="3566160" cy="457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93363" y="1092669"/>
              <a:ext cx="4488180" cy="15853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52800" y="1132331"/>
              <a:ext cx="4373880" cy="4572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19213" y="4471974"/>
              <a:ext cx="215672" cy="21423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91590" y="4204880"/>
              <a:ext cx="471170" cy="812800"/>
            </a:xfrm>
            <a:custGeom>
              <a:avLst/>
              <a:gdLst/>
              <a:ahLst/>
              <a:cxnLst/>
              <a:rect l="l" t="t" r="r" b="b"/>
              <a:pathLst>
                <a:path w="471169" h="812800">
                  <a:moveTo>
                    <a:pt x="256362" y="18821"/>
                  </a:moveTo>
                  <a:lnTo>
                    <a:pt x="254876" y="11480"/>
                  </a:lnTo>
                  <a:lnTo>
                    <a:pt x="250837" y="5499"/>
                  </a:lnTo>
                  <a:lnTo>
                    <a:pt x="244856" y="1473"/>
                  </a:lnTo>
                  <a:lnTo>
                    <a:pt x="237528" y="0"/>
                  </a:lnTo>
                  <a:lnTo>
                    <a:pt x="230187" y="1473"/>
                  </a:lnTo>
                  <a:lnTo>
                    <a:pt x="224205" y="5499"/>
                  </a:lnTo>
                  <a:lnTo>
                    <a:pt x="220167" y="11480"/>
                  </a:lnTo>
                  <a:lnTo>
                    <a:pt x="218694" y="18821"/>
                  </a:lnTo>
                  <a:lnTo>
                    <a:pt x="218694" y="84709"/>
                  </a:lnTo>
                  <a:lnTo>
                    <a:pt x="220167" y="92024"/>
                  </a:lnTo>
                  <a:lnTo>
                    <a:pt x="224205" y="97993"/>
                  </a:lnTo>
                  <a:lnTo>
                    <a:pt x="230187" y="102031"/>
                  </a:lnTo>
                  <a:lnTo>
                    <a:pt x="237528" y="103505"/>
                  </a:lnTo>
                  <a:lnTo>
                    <a:pt x="244856" y="102031"/>
                  </a:lnTo>
                  <a:lnTo>
                    <a:pt x="250837" y="97993"/>
                  </a:lnTo>
                  <a:lnTo>
                    <a:pt x="254876" y="92024"/>
                  </a:lnTo>
                  <a:lnTo>
                    <a:pt x="256362" y="84709"/>
                  </a:lnTo>
                  <a:lnTo>
                    <a:pt x="256362" y="18821"/>
                  </a:lnTo>
                  <a:close/>
                </a:path>
                <a:path w="471169" h="812800">
                  <a:moveTo>
                    <a:pt x="294500" y="758253"/>
                  </a:moveTo>
                  <a:lnTo>
                    <a:pt x="176872" y="758253"/>
                  </a:lnTo>
                  <a:lnTo>
                    <a:pt x="182791" y="779665"/>
                  </a:lnTo>
                  <a:lnTo>
                    <a:pt x="195707" y="796886"/>
                  </a:lnTo>
                  <a:lnTo>
                    <a:pt x="213906" y="808367"/>
                  </a:lnTo>
                  <a:lnTo>
                    <a:pt x="235737" y="812571"/>
                  </a:lnTo>
                  <a:lnTo>
                    <a:pt x="257543" y="808367"/>
                  </a:lnTo>
                  <a:lnTo>
                    <a:pt x="275729" y="796886"/>
                  </a:lnTo>
                  <a:lnTo>
                    <a:pt x="288607" y="779653"/>
                  </a:lnTo>
                  <a:lnTo>
                    <a:pt x="294500" y="758253"/>
                  </a:lnTo>
                  <a:close/>
                </a:path>
                <a:path w="471169" h="812800">
                  <a:moveTo>
                    <a:pt x="342303" y="691845"/>
                  </a:moveTo>
                  <a:lnTo>
                    <a:pt x="339902" y="682167"/>
                  </a:lnTo>
                  <a:lnTo>
                    <a:pt x="334378" y="674217"/>
                  </a:lnTo>
                  <a:lnTo>
                    <a:pt x="326428" y="668693"/>
                  </a:lnTo>
                  <a:lnTo>
                    <a:pt x="316725" y="666292"/>
                  </a:lnTo>
                  <a:lnTo>
                    <a:pt x="154647" y="666292"/>
                  </a:lnTo>
                  <a:lnTo>
                    <a:pt x="144195" y="669048"/>
                  </a:lnTo>
                  <a:lnTo>
                    <a:pt x="135902" y="675373"/>
                  </a:lnTo>
                  <a:lnTo>
                    <a:pt x="130581" y="684352"/>
                  </a:lnTo>
                  <a:lnTo>
                    <a:pt x="129070" y="695045"/>
                  </a:lnTo>
                  <a:lnTo>
                    <a:pt x="131470" y="704735"/>
                  </a:lnTo>
                  <a:lnTo>
                    <a:pt x="136994" y="712685"/>
                  </a:lnTo>
                  <a:lnTo>
                    <a:pt x="144957" y="718210"/>
                  </a:lnTo>
                  <a:lnTo>
                    <a:pt x="154647" y="720598"/>
                  </a:lnTo>
                  <a:lnTo>
                    <a:pt x="316725" y="720598"/>
                  </a:lnTo>
                  <a:lnTo>
                    <a:pt x="327177" y="717854"/>
                  </a:lnTo>
                  <a:lnTo>
                    <a:pt x="335470" y="711517"/>
                  </a:lnTo>
                  <a:lnTo>
                    <a:pt x="340791" y="702538"/>
                  </a:lnTo>
                  <a:lnTo>
                    <a:pt x="342303" y="691845"/>
                  </a:lnTo>
                  <a:close/>
                </a:path>
                <a:path w="471169" h="812800">
                  <a:moveTo>
                    <a:pt x="470903" y="372808"/>
                  </a:moveTo>
                  <a:lnTo>
                    <a:pt x="465366" y="325970"/>
                  </a:lnTo>
                  <a:lnTo>
                    <a:pt x="451180" y="282409"/>
                  </a:lnTo>
                  <a:lnTo>
                    <a:pt x="429247" y="243027"/>
                  </a:lnTo>
                  <a:lnTo>
                    <a:pt x="416636" y="227990"/>
                  </a:lnTo>
                  <a:lnTo>
                    <a:pt x="416636" y="379768"/>
                  </a:lnTo>
                  <a:lnTo>
                    <a:pt x="416598" y="380898"/>
                  </a:lnTo>
                  <a:lnTo>
                    <a:pt x="409206" y="427926"/>
                  </a:lnTo>
                  <a:lnTo>
                    <a:pt x="391071" y="469506"/>
                  </a:lnTo>
                  <a:lnTo>
                    <a:pt x="373621" y="493001"/>
                  </a:lnTo>
                  <a:lnTo>
                    <a:pt x="358495" y="512089"/>
                  </a:lnTo>
                  <a:lnTo>
                    <a:pt x="344538" y="532015"/>
                  </a:lnTo>
                  <a:lnTo>
                    <a:pt x="331762" y="552716"/>
                  </a:lnTo>
                  <a:lnTo>
                    <a:pt x="320217" y="574141"/>
                  </a:lnTo>
                  <a:lnTo>
                    <a:pt x="150685" y="574141"/>
                  </a:lnTo>
                  <a:lnTo>
                    <a:pt x="126606" y="531888"/>
                  </a:lnTo>
                  <a:lnTo>
                    <a:pt x="97764" y="492721"/>
                  </a:lnTo>
                  <a:lnTo>
                    <a:pt x="88506" y="481355"/>
                  </a:lnTo>
                  <a:lnTo>
                    <a:pt x="80302" y="469226"/>
                  </a:lnTo>
                  <a:lnTo>
                    <a:pt x="62052" y="427659"/>
                  </a:lnTo>
                  <a:lnTo>
                    <a:pt x="54343" y="380898"/>
                  </a:lnTo>
                  <a:lnTo>
                    <a:pt x="54279" y="372808"/>
                  </a:lnTo>
                  <a:lnTo>
                    <a:pt x="61366" y="325475"/>
                  </a:lnTo>
                  <a:lnTo>
                    <a:pt x="79921" y="282829"/>
                  </a:lnTo>
                  <a:lnTo>
                    <a:pt x="108254" y="246735"/>
                  </a:lnTo>
                  <a:lnTo>
                    <a:pt x="144678" y="218821"/>
                  </a:lnTo>
                  <a:lnTo>
                    <a:pt x="187540" y="200748"/>
                  </a:lnTo>
                  <a:lnTo>
                    <a:pt x="235165" y="194157"/>
                  </a:lnTo>
                  <a:lnTo>
                    <a:pt x="282790" y="200748"/>
                  </a:lnTo>
                  <a:lnTo>
                    <a:pt x="325653" y="218821"/>
                  </a:lnTo>
                  <a:lnTo>
                    <a:pt x="362089" y="246735"/>
                  </a:lnTo>
                  <a:lnTo>
                    <a:pt x="390410" y="282829"/>
                  </a:lnTo>
                  <a:lnTo>
                    <a:pt x="408965" y="325475"/>
                  </a:lnTo>
                  <a:lnTo>
                    <a:pt x="416090" y="372999"/>
                  </a:lnTo>
                  <a:lnTo>
                    <a:pt x="416636" y="379768"/>
                  </a:lnTo>
                  <a:lnTo>
                    <a:pt x="416636" y="227990"/>
                  </a:lnTo>
                  <a:lnTo>
                    <a:pt x="400494" y="208724"/>
                  </a:lnTo>
                  <a:lnTo>
                    <a:pt x="382638" y="194157"/>
                  </a:lnTo>
                  <a:lnTo>
                    <a:pt x="365823" y="180416"/>
                  </a:lnTo>
                  <a:lnTo>
                    <a:pt x="326148" y="158991"/>
                  </a:lnTo>
                  <a:lnTo>
                    <a:pt x="282384" y="145351"/>
                  </a:lnTo>
                  <a:lnTo>
                    <a:pt x="235458" y="140411"/>
                  </a:lnTo>
                  <a:lnTo>
                    <a:pt x="188518" y="145351"/>
                  </a:lnTo>
                  <a:lnTo>
                    <a:pt x="144754" y="158991"/>
                  </a:lnTo>
                  <a:lnTo>
                    <a:pt x="105092" y="180416"/>
                  </a:lnTo>
                  <a:lnTo>
                    <a:pt x="70408" y="208724"/>
                  </a:lnTo>
                  <a:lnTo>
                    <a:pt x="41656" y="243027"/>
                  </a:lnTo>
                  <a:lnTo>
                    <a:pt x="19723" y="282409"/>
                  </a:lnTo>
                  <a:lnTo>
                    <a:pt x="5537" y="325970"/>
                  </a:lnTo>
                  <a:lnTo>
                    <a:pt x="0" y="372808"/>
                  </a:lnTo>
                  <a:lnTo>
                    <a:pt x="0" y="380898"/>
                  </a:lnTo>
                  <a:lnTo>
                    <a:pt x="4775" y="422300"/>
                  </a:lnTo>
                  <a:lnTo>
                    <a:pt x="16395" y="462318"/>
                  </a:lnTo>
                  <a:lnTo>
                    <a:pt x="33832" y="497611"/>
                  </a:lnTo>
                  <a:lnTo>
                    <a:pt x="57264" y="529247"/>
                  </a:lnTo>
                  <a:lnTo>
                    <a:pt x="73596" y="550278"/>
                  </a:lnTo>
                  <a:lnTo>
                    <a:pt x="89179" y="575157"/>
                  </a:lnTo>
                  <a:lnTo>
                    <a:pt x="102577" y="599427"/>
                  </a:lnTo>
                  <a:lnTo>
                    <a:pt x="112356" y="618667"/>
                  </a:lnTo>
                  <a:lnTo>
                    <a:pt x="115417" y="624801"/>
                  </a:lnTo>
                  <a:lnTo>
                    <a:pt x="121704" y="628675"/>
                  </a:lnTo>
                  <a:lnTo>
                    <a:pt x="342544" y="628650"/>
                  </a:lnTo>
                  <a:lnTo>
                    <a:pt x="349211" y="628675"/>
                  </a:lnTo>
                  <a:lnTo>
                    <a:pt x="355498" y="624801"/>
                  </a:lnTo>
                  <a:lnTo>
                    <a:pt x="358546" y="618667"/>
                  </a:lnTo>
                  <a:lnTo>
                    <a:pt x="368338" y="599414"/>
                  </a:lnTo>
                  <a:lnTo>
                    <a:pt x="397370" y="550240"/>
                  </a:lnTo>
                  <a:lnTo>
                    <a:pt x="426072" y="513930"/>
                  </a:lnTo>
                  <a:lnTo>
                    <a:pt x="437070" y="497611"/>
                  </a:lnTo>
                  <a:lnTo>
                    <a:pt x="454520" y="462318"/>
                  </a:lnTo>
                  <a:lnTo>
                    <a:pt x="466128" y="422300"/>
                  </a:lnTo>
                  <a:lnTo>
                    <a:pt x="470903" y="380898"/>
                  </a:lnTo>
                  <a:lnTo>
                    <a:pt x="470903" y="3728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4112" y="4312967"/>
              <a:ext cx="83552" cy="8362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20383" y="4316579"/>
              <a:ext cx="82416" cy="839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51834" y="4557818"/>
              <a:ext cx="104139" cy="38100"/>
            </a:xfrm>
            <a:custGeom>
              <a:avLst/>
              <a:gdLst/>
              <a:ahLst/>
              <a:cxnLst/>
              <a:rect l="l" t="t" r="r" b="b"/>
              <a:pathLst>
                <a:path w="104140" h="38100">
                  <a:moveTo>
                    <a:pt x="84762" y="0"/>
                  </a:moveTo>
                  <a:lnTo>
                    <a:pt x="18836" y="0"/>
                  </a:lnTo>
                  <a:lnTo>
                    <a:pt x="11503" y="1479"/>
                  </a:lnTo>
                  <a:lnTo>
                    <a:pt x="5515" y="5515"/>
                  </a:lnTo>
                  <a:lnTo>
                    <a:pt x="1479" y="11499"/>
                  </a:lnTo>
                  <a:lnTo>
                    <a:pt x="0" y="18825"/>
                  </a:lnTo>
                  <a:lnTo>
                    <a:pt x="1479" y="26154"/>
                  </a:lnTo>
                  <a:lnTo>
                    <a:pt x="5515" y="32138"/>
                  </a:lnTo>
                  <a:lnTo>
                    <a:pt x="11503" y="36171"/>
                  </a:lnTo>
                  <a:lnTo>
                    <a:pt x="18836" y="37650"/>
                  </a:lnTo>
                  <a:lnTo>
                    <a:pt x="84762" y="37650"/>
                  </a:lnTo>
                  <a:lnTo>
                    <a:pt x="92093" y="36171"/>
                  </a:lnTo>
                  <a:lnTo>
                    <a:pt x="98080" y="32138"/>
                  </a:lnTo>
                  <a:lnTo>
                    <a:pt x="102118" y="26154"/>
                  </a:lnTo>
                  <a:lnTo>
                    <a:pt x="103598" y="18825"/>
                  </a:lnTo>
                  <a:lnTo>
                    <a:pt x="102118" y="11499"/>
                  </a:lnTo>
                  <a:lnTo>
                    <a:pt x="98080" y="5515"/>
                  </a:lnTo>
                  <a:lnTo>
                    <a:pt x="92093" y="1479"/>
                  </a:lnTo>
                  <a:lnTo>
                    <a:pt x="847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52483" y="4756985"/>
              <a:ext cx="84179" cy="8465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0193" y="4751747"/>
              <a:ext cx="86462" cy="8649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699323" y="4103941"/>
              <a:ext cx="9246235" cy="1292225"/>
            </a:xfrm>
            <a:custGeom>
              <a:avLst/>
              <a:gdLst/>
              <a:ahLst/>
              <a:cxnLst/>
              <a:rect l="l" t="t" r="r" b="b"/>
              <a:pathLst>
                <a:path w="9246235" h="1292225">
                  <a:moveTo>
                    <a:pt x="103593" y="472046"/>
                  </a:moveTo>
                  <a:lnTo>
                    <a:pt x="102120" y="464718"/>
                  </a:lnTo>
                  <a:lnTo>
                    <a:pt x="98094" y="458736"/>
                  </a:lnTo>
                  <a:lnTo>
                    <a:pt x="92100" y="454710"/>
                  </a:lnTo>
                  <a:lnTo>
                    <a:pt x="84759" y="453224"/>
                  </a:lnTo>
                  <a:lnTo>
                    <a:pt x="18834" y="453224"/>
                  </a:lnTo>
                  <a:lnTo>
                    <a:pt x="11493" y="454710"/>
                  </a:lnTo>
                  <a:lnTo>
                    <a:pt x="5511" y="458736"/>
                  </a:lnTo>
                  <a:lnTo>
                    <a:pt x="1473" y="464718"/>
                  </a:lnTo>
                  <a:lnTo>
                    <a:pt x="0" y="472046"/>
                  </a:lnTo>
                  <a:lnTo>
                    <a:pt x="1473" y="479374"/>
                  </a:lnTo>
                  <a:lnTo>
                    <a:pt x="5511" y="485368"/>
                  </a:lnTo>
                  <a:lnTo>
                    <a:pt x="11493" y="489394"/>
                  </a:lnTo>
                  <a:lnTo>
                    <a:pt x="18834" y="490880"/>
                  </a:lnTo>
                  <a:lnTo>
                    <a:pt x="84759" y="490880"/>
                  </a:lnTo>
                  <a:lnTo>
                    <a:pt x="92100" y="489394"/>
                  </a:lnTo>
                  <a:lnTo>
                    <a:pt x="98094" y="485368"/>
                  </a:lnTo>
                  <a:lnTo>
                    <a:pt x="102120" y="479374"/>
                  </a:lnTo>
                  <a:lnTo>
                    <a:pt x="103593" y="472046"/>
                  </a:lnTo>
                  <a:close/>
                </a:path>
                <a:path w="9246235" h="1292225">
                  <a:moveTo>
                    <a:pt x="7936293" y="111518"/>
                  </a:moveTo>
                  <a:lnTo>
                    <a:pt x="7896860" y="90855"/>
                  </a:lnTo>
                  <a:lnTo>
                    <a:pt x="7855102" y="80137"/>
                  </a:lnTo>
                  <a:lnTo>
                    <a:pt x="7812621" y="79044"/>
                  </a:lnTo>
                  <a:lnTo>
                    <a:pt x="7771041" y="87312"/>
                  </a:lnTo>
                  <a:lnTo>
                    <a:pt x="7731988" y="104609"/>
                  </a:lnTo>
                  <a:lnTo>
                    <a:pt x="7697063" y="130644"/>
                  </a:lnTo>
                  <a:lnTo>
                    <a:pt x="7667879" y="165125"/>
                  </a:lnTo>
                  <a:lnTo>
                    <a:pt x="7647191" y="205193"/>
                  </a:lnTo>
                  <a:lnTo>
                    <a:pt x="7636459" y="247154"/>
                  </a:lnTo>
                  <a:lnTo>
                    <a:pt x="7635367" y="289547"/>
                  </a:lnTo>
                  <a:lnTo>
                    <a:pt x="7643647" y="330835"/>
                  </a:lnTo>
                  <a:lnTo>
                    <a:pt x="7660970" y="369544"/>
                  </a:lnTo>
                  <a:lnTo>
                    <a:pt x="7687043" y="404164"/>
                  </a:lnTo>
                  <a:lnTo>
                    <a:pt x="7721562" y="433197"/>
                  </a:lnTo>
                  <a:lnTo>
                    <a:pt x="7768666" y="455815"/>
                  </a:lnTo>
                  <a:lnTo>
                    <a:pt x="7785989" y="461073"/>
                  </a:lnTo>
                  <a:lnTo>
                    <a:pt x="7790599" y="412445"/>
                  </a:lnTo>
                  <a:lnTo>
                    <a:pt x="7799502" y="364832"/>
                  </a:lnTo>
                  <a:lnTo>
                    <a:pt x="7812595" y="318427"/>
                  </a:lnTo>
                  <a:lnTo>
                    <a:pt x="7829740" y="273431"/>
                  </a:lnTo>
                  <a:lnTo>
                    <a:pt x="7850797" y="230035"/>
                  </a:lnTo>
                  <a:lnTo>
                    <a:pt x="7875664" y="188455"/>
                  </a:lnTo>
                  <a:lnTo>
                    <a:pt x="7904213" y="148882"/>
                  </a:lnTo>
                  <a:lnTo>
                    <a:pt x="7936293" y="111518"/>
                  </a:lnTo>
                  <a:close/>
                </a:path>
                <a:path w="9246235" h="1292225">
                  <a:moveTo>
                    <a:pt x="7938440" y="870673"/>
                  </a:moveTo>
                  <a:lnTo>
                    <a:pt x="7905648" y="833208"/>
                  </a:lnTo>
                  <a:lnTo>
                    <a:pt x="7876578" y="793394"/>
                  </a:lnTo>
                  <a:lnTo>
                    <a:pt x="7851330" y="751471"/>
                  </a:lnTo>
                  <a:lnTo>
                    <a:pt x="7830007" y="707682"/>
                  </a:lnTo>
                  <a:lnTo>
                    <a:pt x="7812710" y="662292"/>
                  </a:lnTo>
                  <a:lnTo>
                    <a:pt x="7799540" y="615543"/>
                  </a:lnTo>
                  <a:lnTo>
                    <a:pt x="7790599" y="567677"/>
                  </a:lnTo>
                  <a:lnTo>
                    <a:pt x="7785989" y="518972"/>
                  </a:lnTo>
                  <a:lnTo>
                    <a:pt x="7756995" y="522655"/>
                  </a:lnTo>
                  <a:lnTo>
                    <a:pt x="7699019" y="534047"/>
                  </a:lnTo>
                  <a:lnTo>
                    <a:pt x="7620571" y="559346"/>
                  </a:lnTo>
                  <a:lnTo>
                    <a:pt x="7572324" y="580351"/>
                  </a:lnTo>
                  <a:lnTo>
                    <a:pt x="7525690" y="604989"/>
                  </a:lnTo>
                  <a:lnTo>
                    <a:pt x="7481062" y="632625"/>
                  </a:lnTo>
                  <a:lnTo>
                    <a:pt x="7452080" y="666407"/>
                  </a:lnTo>
                  <a:lnTo>
                    <a:pt x="7442416" y="709828"/>
                  </a:lnTo>
                  <a:lnTo>
                    <a:pt x="7442416" y="902830"/>
                  </a:lnTo>
                  <a:lnTo>
                    <a:pt x="7906232" y="902830"/>
                  </a:lnTo>
                  <a:lnTo>
                    <a:pt x="7913078" y="893584"/>
                  </a:lnTo>
                  <a:lnTo>
                    <a:pt x="7920723" y="885139"/>
                  </a:lnTo>
                  <a:lnTo>
                    <a:pt x="7929181" y="877506"/>
                  </a:lnTo>
                  <a:lnTo>
                    <a:pt x="7938440" y="870673"/>
                  </a:lnTo>
                  <a:close/>
                </a:path>
                <a:path w="9246235" h="1292225">
                  <a:moveTo>
                    <a:pt x="8552574" y="405307"/>
                  </a:moveTo>
                  <a:lnTo>
                    <a:pt x="8546846" y="355650"/>
                  </a:lnTo>
                  <a:lnTo>
                    <a:pt x="8530526" y="310070"/>
                  </a:lnTo>
                  <a:lnTo>
                    <a:pt x="8504923" y="269849"/>
                  </a:lnTo>
                  <a:lnTo>
                    <a:pt x="8471344" y="236308"/>
                  </a:lnTo>
                  <a:lnTo>
                    <a:pt x="8431073" y="210731"/>
                  </a:lnTo>
                  <a:lnTo>
                    <a:pt x="8385429" y="194437"/>
                  </a:lnTo>
                  <a:lnTo>
                    <a:pt x="8335696" y="188722"/>
                  </a:lnTo>
                  <a:lnTo>
                    <a:pt x="8285962" y="194437"/>
                  </a:lnTo>
                  <a:lnTo>
                    <a:pt x="8240319" y="210731"/>
                  </a:lnTo>
                  <a:lnTo>
                    <a:pt x="8200047" y="236308"/>
                  </a:lnTo>
                  <a:lnTo>
                    <a:pt x="8166455" y="269849"/>
                  </a:lnTo>
                  <a:lnTo>
                    <a:pt x="8140865" y="310070"/>
                  </a:lnTo>
                  <a:lnTo>
                    <a:pt x="8124545" y="355650"/>
                  </a:lnTo>
                  <a:lnTo>
                    <a:pt x="8118818" y="405307"/>
                  </a:lnTo>
                  <a:lnTo>
                    <a:pt x="8124545" y="454977"/>
                  </a:lnTo>
                  <a:lnTo>
                    <a:pt x="8140865" y="500570"/>
                  </a:lnTo>
                  <a:lnTo>
                    <a:pt x="8166455" y="540778"/>
                  </a:lnTo>
                  <a:lnTo>
                    <a:pt x="8200047" y="574332"/>
                  </a:lnTo>
                  <a:lnTo>
                    <a:pt x="8240319" y="599897"/>
                  </a:lnTo>
                  <a:lnTo>
                    <a:pt x="8285962" y="616191"/>
                  </a:lnTo>
                  <a:lnTo>
                    <a:pt x="8335696" y="621906"/>
                  </a:lnTo>
                  <a:lnTo>
                    <a:pt x="8385429" y="616191"/>
                  </a:lnTo>
                  <a:lnTo>
                    <a:pt x="8431073" y="599897"/>
                  </a:lnTo>
                  <a:lnTo>
                    <a:pt x="8471344" y="574332"/>
                  </a:lnTo>
                  <a:lnTo>
                    <a:pt x="8504923" y="540778"/>
                  </a:lnTo>
                  <a:lnTo>
                    <a:pt x="8530526" y="500570"/>
                  </a:lnTo>
                  <a:lnTo>
                    <a:pt x="8546846" y="454977"/>
                  </a:lnTo>
                  <a:lnTo>
                    <a:pt x="8552574" y="405307"/>
                  </a:lnTo>
                  <a:close/>
                </a:path>
                <a:path w="9246235" h="1292225">
                  <a:moveTo>
                    <a:pt x="8730805" y="1134440"/>
                  </a:moveTo>
                  <a:lnTo>
                    <a:pt x="8694293" y="1097978"/>
                  </a:lnTo>
                  <a:lnTo>
                    <a:pt x="8656447" y="1041692"/>
                  </a:lnTo>
                  <a:lnTo>
                    <a:pt x="8642756" y="975753"/>
                  </a:lnTo>
                  <a:lnTo>
                    <a:pt x="8629879" y="962875"/>
                  </a:lnTo>
                  <a:lnTo>
                    <a:pt x="8587219" y="986586"/>
                  </a:lnTo>
                  <a:lnTo>
                    <a:pt x="8543188" y="1006233"/>
                  </a:lnTo>
                  <a:lnTo>
                    <a:pt x="8498053" y="1021829"/>
                  </a:lnTo>
                  <a:lnTo>
                    <a:pt x="8452040" y="1033411"/>
                  </a:lnTo>
                  <a:lnTo>
                    <a:pt x="8405444" y="1040968"/>
                  </a:lnTo>
                  <a:lnTo>
                    <a:pt x="8358530" y="1044524"/>
                  </a:lnTo>
                  <a:lnTo>
                    <a:pt x="8311540" y="1044105"/>
                  </a:lnTo>
                  <a:lnTo>
                    <a:pt x="8264741" y="1039710"/>
                  </a:lnTo>
                  <a:lnTo>
                    <a:pt x="8218411" y="1031354"/>
                  </a:lnTo>
                  <a:lnTo>
                    <a:pt x="8172805" y="1019060"/>
                  </a:lnTo>
                  <a:lnTo>
                    <a:pt x="8128178" y="1002830"/>
                  </a:lnTo>
                  <a:lnTo>
                    <a:pt x="8084807" y="982687"/>
                  </a:lnTo>
                  <a:lnTo>
                    <a:pt x="8042948" y="958646"/>
                  </a:lnTo>
                  <a:lnTo>
                    <a:pt x="8002867" y="930719"/>
                  </a:lnTo>
                  <a:lnTo>
                    <a:pt x="7996415" y="934999"/>
                  </a:lnTo>
                  <a:lnTo>
                    <a:pt x="7980413" y="949744"/>
                  </a:lnTo>
                  <a:lnTo>
                    <a:pt x="7968234" y="967701"/>
                  </a:lnTo>
                  <a:lnTo>
                    <a:pt x="7960487" y="988085"/>
                  </a:lnTo>
                  <a:lnTo>
                    <a:pt x="7957769" y="1010056"/>
                  </a:lnTo>
                  <a:lnTo>
                    <a:pt x="7957769" y="1203058"/>
                  </a:lnTo>
                  <a:lnTo>
                    <a:pt x="8730805" y="1203058"/>
                  </a:lnTo>
                  <a:lnTo>
                    <a:pt x="8730805" y="1134440"/>
                  </a:lnTo>
                  <a:close/>
                </a:path>
                <a:path w="9246235" h="1292225">
                  <a:moveTo>
                    <a:pt x="9052877" y="284734"/>
                  </a:moveTo>
                  <a:lnTo>
                    <a:pt x="9050744" y="240182"/>
                  </a:lnTo>
                  <a:lnTo>
                    <a:pt x="9038488" y="197408"/>
                  </a:lnTo>
                  <a:lnTo>
                    <a:pt x="9017368" y="159778"/>
                  </a:lnTo>
                  <a:lnTo>
                    <a:pt x="8988768" y="128206"/>
                  </a:lnTo>
                  <a:lnTo>
                    <a:pt x="8954084" y="103670"/>
                  </a:lnTo>
                  <a:lnTo>
                    <a:pt x="8914714" y="87071"/>
                  </a:lnTo>
                  <a:lnTo>
                    <a:pt x="8872029" y="79375"/>
                  </a:lnTo>
                  <a:lnTo>
                    <a:pt x="8827427" y="81495"/>
                  </a:lnTo>
                  <a:lnTo>
                    <a:pt x="8805316" y="86258"/>
                  </a:lnTo>
                  <a:lnTo>
                    <a:pt x="8784209" y="93827"/>
                  </a:lnTo>
                  <a:lnTo>
                    <a:pt x="8764321" y="103809"/>
                  </a:lnTo>
                  <a:lnTo>
                    <a:pt x="8745830" y="115811"/>
                  </a:lnTo>
                  <a:lnTo>
                    <a:pt x="8777122" y="152463"/>
                  </a:lnTo>
                  <a:lnTo>
                    <a:pt x="8804885" y="191503"/>
                  </a:lnTo>
                  <a:lnTo>
                    <a:pt x="8829027" y="232702"/>
                  </a:lnTo>
                  <a:lnTo>
                    <a:pt x="8849436" y="275844"/>
                  </a:lnTo>
                  <a:lnTo>
                    <a:pt x="8866035" y="320687"/>
                  </a:lnTo>
                  <a:lnTo>
                    <a:pt x="8878697" y="367017"/>
                  </a:lnTo>
                  <a:lnTo>
                    <a:pt x="8887333" y="414604"/>
                  </a:lnTo>
                  <a:lnTo>
                    <a:pt x="8891841" y="463219"/>
                  </a:lnTo>
                  <a:lnTo>
                    <a:pt x="8934679" y="450977"/>
                  </a:lnTo>
                  <a:lnTo>
                    <a:pt x="8972372" y="429882"/>
                  </a:lnTo>
                  <a:lnTo>
                    <a:pt x="9003970" y="401320"/>
                  </a:lnTo>
                  <a:lnTo>
                    <a:pt x="9028544" y="366687"/>
                  </a:lnTo>
                  <a:lnTo>
                    <a:pt x="9045169" y="327355"/>
                  </a:lnTo>
                  <a:lnTo>
                    <a:pt x="9052877" y="284734"/>
                  </a:lnTo>
                  <a:close/>
                </a:path>
                <a:path w="9246235" h="1292225">
                  <a:moveTo>
                    <a:pt x="9141739" y="1181354"/>
                  </a:moveTo>
                  <a:lnTo>
                    <a:pt x="9134665" y="1138224"/>
                  </a:lnTo>
                  <a:lnTo>
                    <a:pt x="9110878" y="1100124"/>
                  </a:lnTo>
                  <a:lnTo>
                    <a:pt x="9104427" y="1093698"/>
                  </a:lnTo>
                  <a:lnTo>
                    <a:pt x="8902586" y="889965"/>
                  </a:lnTo>
                  <a:lnTo>
                    <a:pt x="8855075" y="862088"/>
                  </a:lnTo>
                  <a:lnTo>
                    <a:pt x="8827999" y="857402"/>
                  </a:lnTo>
                  <a:lnTo>
                    <a:pt x="8799512" y="859942"/>
                  </a:lnTo>
                  <a:lnTo>
                    <a:pt x="8726500" y="789178"/>
                  </a:lnTo>
                  <a:lnTo>
                    <a:pt x="8757094" y="744918"/>
                  </a:lnTo>
                  <a:lnTo>
                    <a:pt x="8782253" y="698157"/>
                  </a:lnTo>
                  <a:lnTo>
                    <a:pt x="8801925" y="649249"/>
                  </a:lnTo>
                  <a:lnTo>
                    <a:pt x="8816061" y="598551"/>
                  </a:lnTo>
                  <a:lnTo>
                    <a:pt x="8824570" y="546430"/>
                  </a:lnTo>
                  <a:lnTo>
                    <a:pt x="8827427" y="493242"/>
                  </a:lnTo>
                  <a:lnTo>
                    <a:pt x="8825547" y="446100"/>
                  </a:lnTo>
                  <a:lnTo>
                    <a:pt x="8819274" y="400189"/>
                  </a:lnTo>
                  <a:lnTo>
                    <a:pt x="8808822" y="355727"/>
                  </a:lnTo>
                  <a:lnTo>
                    <a:pt x="8794394" y="312902"/>
                  </a:lnTo>
                  <a:lnTo>
                    <a:pt x="8776183" y="271932"/>
                  </a:lnTo>
                  <a:lnTo>
                    <a:pt x="8754415" y="233019"/>
                  </a:lnTo>
                  <a:lnTo>
                    <a:pt x="8730805" y="198615"/>
                  </a:lnTo>
                  <a:lnTo>
                    <a:pt x="8730805" y="491096"/>
                  </a:lnTo>
                  <a:lnTo>
                    <a:pt x="8726970" y="546011"/>
                  </a:lnTo>
                  <a:lnTo>
                    <a:pt x="8715616" y="599490"/>
                  </a:lnTo>
                  <a:lnTo>
                    <a:pt x="8696935" y="650595"/>
                  </a:lnTo>
                  <a:lnTo>
                    <a:pt x="8671154" y="698411"/>
                  </a:lnTo>
                  <a:lnTo>
                    <a:pt x="8638464" y="741997"/>
                  </a:lnTo>
                  <a:lnTo>
                    <a:pt x="8607831" y="728332"/>
                  </a:lnTo>
                  <a:lnTo>
                    <a:pt x="8576996" y="716267"/>
                  </a:lnTo>
                  <a:lnTo>
                    <a:pt x="8513915" y="696963"/>
                  </a:lnTo>
                  <a:lnTo>
                    <a:pt x="8470074" y="685368"/>
                  </a:lnTo>
                  <a:lnTo>
                    <a:pt x="8425612" y="676592"/>
                  </a:lnTo>
                  <a:lnTo>
                    <a:pt x="8380755" y="671029"/>
                  </a:lnTo>
                  <a:lnTo>
                    <a:pt x="8335696" y="669086"/>
                  </a:lnTo>
                  <a:lnTo>
                    <a:pt x="8290636" y="671029"/>
                  </a:lnTo>
                  <a:lnTo>
                    <a:pt x="8245780" y="676592"/>
                  </a:lnTo>
                  <a:lnTo>
                    <a:pt x="8201317" y="685368"/>
                  </a:lnTo>
                  <a:lnTo>
                    <a:pt x="8157464" y="696963"/>
                  </a:lnTo>
                  <a:lnTo>
                    <a:pt x="8097875" y="716534"/>
                  </a:lnTo>
                  <a:lnTo>
                    <a:pt x="8041513" y="744143"/>
                  </a:lnTo>
                  <a:lnTo>
                    <a:pt x="8012112" y="705129"/>
                  </a:lnTo>
                  <a:lnTo>
                    <a:pt x="7988325" y="663676"/>
                  </a:lnTo>
                  <a:lnTo>
                    <a:pt x="7970088" y="620293"/>
                  </a:lnTo>
                  <a:lnTo>
                    <a:pt x="7957363" y="575500"/>
                  </a:lnTo>
                  <a:lnTo>
                    <a:pt x="7950124" y="529831"/>
                  </a:lnTo>
                  <a:lnTo>
                    <a:pt x="7948320" y="483793"/>
                  </a:lnTo>
                  <a:lnTo>
                    <a:pt x="7951914" y="437921"/>
                  </a:lnTo>
                  <a:lnTo>
                    <a:pt x="7960855" y="392722"/>
                  </a:lnTo>
                  <a:lnTo>
                    <a:pt x="7975117" y="348716"/>
                  </a:lnTo>
                  <a:lnTo>
                    <a:pt x="7994650" y="306438"/>
                  </a:lnTo>
                  <a:lnTo>
                    <a:pt x="8019415" y="266407"/>
                  </a:lnTo>
                  <a:lnTo>
                    <a:pt x="8049361" y="229133"/>
                  </a:lnTo>
                  <a:lnTo>
                    <a:pt x="8084464" y="195148"/>
                  </a:lnTo>
                  <a:lnTo>
                    <a:pt x="8121434" y="166573"/>
                  </a:lnTo>
                  <a:lnTo>
                    <a:pt x="8161210" y="143052"/>
                  </a:lnTo>
                  <a:lnTo>
                    <a:pt x="8203362" y="124650"/>
                  </a:lnTo>
                  <a:lnTo>
                    <a:pt x="8247494" y="111442"/>
                  </a:lnTo>
                  <a:lnTo>
                    <a:pt x="8293176" y="103466"/>
                  </a:lnTo>
                  <a:lnTo>
                    <a:pt x="8339988" y="100799"/>
                  </a:lnTo>
                  <a:lnTo>
                    <a:pt x="8389213" y="103822"/>
                  </a:lnTo>
                  <a:lnTo>
                    <a:pt x="8436559" y="112649"/>
                  </a:lnTo>
                  <a:lnTo>
                    <a:pt x="8481670" y="126936"/>
                  </a:lnTo>
                  <a:lnTo>
                    <a:pt x="8524176" y="146316"/>
                  </a:lnTo>
                  <a:lnTo>
                    <a:pt x="8563724" y="170446"/>
                  </a:lnTo>
                  <a:lnTo>
                    <a:pt x="8599957" y="198945"/>
                  </a:lnTo>
                  <a:lnTo>
                    <a:pt x="8632520" y="231470"/>
                  </a:lnTo>
                  <a:lnTo>
                    <a:pt x="8661057" y="267652"/>
                  </a:lnTo>
                  <a:lnTo>
                    <a:pt x="8685212" y="307149"/>
                  </a:lnTo>
                  <a:lnTo>
                    <a:pt x="8704618" y="349605"/>
                  </a:lnTo>
                  <a:lnTo>
                    <a:pt x="8718931" y="394652"/>
                  </a:lnTo>
                  <a:lnTo>
                    <a:pt x="8727770" y="441934"/>
                  </a:lnTo>
                  <a:lnTo>
                    <a:pt x="8730805" y="491096"/>
                  </a:lnTo>
                  <a:lnTo>
                    <a:pt x="8730805" y="198615"/>
                  </a:lnTo>
                  <a:lnTo>
                    <a:pt x="8700973" y="162191"/>
                  </a:lnTo>
                  <a:lnTo>
                    <a:pt x="8669718" y="130695"/>
                  </a:lnTo>
                  <a:lnTo>
                    <a:pt x="8635721" y="102082"/>
                  </a:lnTo>
                  <a:lnTo>
                    <a:pt x="8633866" y="100799"/>
                  </a:lnTo>
                  <a:lnTo>
                    <a:pt x="8599170" y="76568"/>
                  </a:lnTo>
                  <a:lnTo>
                    <a:pt x="8560270" y="54356"/>
                  </a:lnTo>
                  <a:lnTo>
                    <a:pt x="8519249" y="35636"/>
                  </a:lnTo>
                  <a:lnTo>
                    <a:pt x="8476285" y="20650"/>
                  </a:lnTo>
                  <a:lnTo>
                    <a:pt x="8431593" y="9563"/>
                  </a:lnTo>
                  <a:lnTo>
                    <a:pt x="8385378" y="2616"/>
                  </a:lnTo>
                  <a:lnTo>
                    <a:pt x="8337842" y="0"/>
                  </a:lnTo>
                  <a:lnTo>
                    <a:pt x="8290331" y="1879"/>
                  </a:lnTo>
                  <a:lnTo>
                    <a:pt x="8244167" y="8140"/>
                  </a:lnTo>
                  <a:lnTo>
                    <a:pt x="8199564" y="18580"/>
                  </a:lnTo>
                  <a:lnTo>
                    <a:pt x="8156715" y="32969"/>
                  </a:lnTo>
                  <a:lnTo>
                    <a:pt x="8115808" y="51130"/>
                  </a:lnTo>
                  <a:lnTo>
                    <a:pt x="8077035" y="72834"/>
                  </a:lnTo>
                  <a:lnTo>
                    <a:pt x="8040611" y="97878"/>
                  </a:lnTo>
                  <a:lnTo>
                    <a:pt x="8006715" y="126072"/>
                  </a:lnTo>
                  <a:lnTo>
                    <a:pt x="7975562" y="157187"/>
                  </a:lnTo>
                  <a:lnTo>
                    <a:pt x="7947330" y="191033"/>
                  </a:lnTo>
                  <a:lnTo>
                    <a:pt x="7922222" y="227380"/>
                  </a:lnTo>
                  <a:lnTo>
                    <a:pt x="7900441" y="266052"/>
                  </a:lnTo>
                  <a:lnTo>
                    <a:pt x="7882179" y="306832"/>
                  </a:lnTo>
                  <a:lnTo>
                    <a:pt x="7867612" y="349605"/>
                  </a:lnTo>
                  <a:lnTo>
                    <a:pt x="7856995" y="393852"/>
                  </a:lnTo>
                  <a:lnTo>
                    <a:pt x="7850479" y="439686"/>
                  </a:lnTo>
                  <a:lnTo>
                    <a:pt x="7848257" y="486803"/>
                  </a:lnTo>
                  <a:lnTo>
                    <a:pt x="7850479" y="533946"/>
                  </a:lnTo>
                  <a:lnTo>
                    <a:pt x="7856995" y="579843"/>
                  </a:lnTo>
                  <a:lnTo>
                    <a:pt x="7867637" y="624319"/>
                  </a:lnTo>
                  <a:lnTo>
                    <a:pt x="7882179" y="667143"/>
                  </a:lnTo>
                  <a:lnTo>
                    <a:pt x="7900441" y="708113"/>
                  </a:lnTo>
                  <a:lnTo>
                    <a:pt x="7922222" y="747026"/>
                  </a:lnTo>
                  <a:lnTo>
                    <a:pt x="7947330" y="783666"/>
                  </a:lnTo>
                  <a:lnTo>
                    <a:pt x="7975562" y="817841"/>
                  </a:lnTo>
                  <a:lnTo>
                    <a:pt x="8006715" y="849350"/>
                  </a:lnTo>
                  <a:lnTo>
                    <a:pt x="8040611" y="877951"/>
                  </a:lnTo>
                  <a:lnTo>
                    <a:pt x="8077035" y="903478"/>
                  </a:lnTo>
                  <a:lnTo>
                    <a:pt x="8115808" y="925690"/>
                  </a:lnTo>
                  <a:lnTo>
                    <a:pt x="8156715" y="944397"/>
                  </a:lnTo>
                  <a:lnTo>
                    <a:pt x="8199564" y="959396"/>
                  </a:lnTo>
                  <a:lnTo>
                    <a:pt x="8244167" y="970470"/>
                  </a:lnTo>
                  <a:lnTo>
                    <a:pt x="8290331" y="977417"/>
                  </a:lnTo>
                  <a:lnTo>
                    <a:pt x="8337842" y="980033"/>
                  </a:lnTo>
                  <a:lnTo>
                    <a:pt x="8391271" y="977188"/>
                  </a:lnTo>
                  <a:lnTo>
                    <a:pt x="8443938" y="968679"/>
                  </a:lnTo>
                  <a:lnTo>
                    <a:pt x="8495398" y="954570"/>
                  </a:lnTo>
                  <a:lnTo>
                    <a:pt x="8545258" y="934923"/>
                  </a:lnTo>
                  <a:lnTo>
                    <a:pt x="8593087" y="909789"/>
                  </a:lnTo>
                  <a:lnTo>
                    <a:pt x="8638464" y="879246"/>
                  </a:lnTo>
                  <a:lnTo>
                    <a:pt x="8711476" y="950010"/>
                  </a:lnTo>
                  <a:lnTo>
                    <a:pt x="8714422" y="1004697"/>
                  </a:lnTo>
                  <a:lnTo>
                    <a:pt x="8741537" y="1052944"/>
                  </a:lnTo>
                  <a:lnTo>
                    <a:pt x="8945524" y="1256677"/>
                  </a:lnTo>
                  <a:lnTo>
                    <a:pt x="8982469" y="1282382"/>
                  </a:lnTo>
                  <a:lnTo>
                    <a:pt x="9025255" y="1291793"/>
                  </a:lnTo>
                  <a:lnTo>
                    <a:pt x="9068435" y="1284719"/>
                  </a:lnTo>
                  <a:lnTo>
                    <a:pt x="9106573" y="1260970"/>
                  </a:lnTo>
                  <a:lnTo>
                    <a:pt x="9132316" y="1224076"/>
                  </a:lnTo>
                  <a:lnTo>
                    <a:pt x="9141739" y="1181354"/>
                  </a:lnTo>
                  <a:close/>
                </a:path>
                <a:path w="9246235" h="1292225">
                  <a:moveTo>
                    <a:pt x="9246159" y="709828"/>
                  </a:moveTo>
                  <a:lnTo>
                    <a:pt x="9236494" y="666407"/>
                  </a:lnTo>
                  <a:lnTo>
                    <a:pt x="9207500" y="632625"/>
                  </a:lnTo>
                  <a:lnTo>
                    <a:pt x="9164091" y="602576"/>
                  </a:lnTo>
                  <a:lnTo>
                    <a:pt x="9117851" y="577138"/>
                  </a:lnTo>
                  <a:lnTo>
                    <a:pt x="9069197" y="556933"/>
                  </a:lnTo>
                  <a:lnTo>
                    <a:pt x="8987574" y="534047"/>
                  </a:lnTo>
                  <a:lnTo>
                    <a:pt x="8924023" y="522655"/>
                  </a:lnTo>
                  <a:lnTo>
                    <a:pt x="8891841" y="518972"/>
                  </a:lnTo>
                  <a:lnTo>
                    <a:pt x="8887739" y="564857"/>
                  </a:lnTo>
                  <a:lnTo>
                    <a:pt x="8879764" y="610146"/>
                  </a:lnTo>
                  <a:lnTo>
                    <a:pt x="8867953" y="654608"/>
                  </a:lnTo>
                  <a:lnTo>
                    <a:pt x="8852395" y="697992"/>
                  </a:lnTo>
                  <a:lnTo>
                    <a:pt x="8833142" y="740067"/>
                  </a:lnTo>
                  <a:lnTo>
                    <a:pt x="8810244" y="780605"/>
                  </a:lnTo>
                  <a:lnTo>
                    <a:pt x="8823134" y="793470"/>
                  </a:lnTo>
                  <a:lnTo>
                    <a:pt x="8889162" y="807135"/>
                  </a:lnTo>
                  <a:lnTo>
                    <a:pt x="8945524" y="844931"/>
                  </a:lnTo>
                  <a:lnTo>
                    <a:pt x="9003513" y="902830"/>
                  </a:lnTo>
                  <a:lnTo>
                    <a:pt x="9246159" y="902830"/>
                  </a:lnTo>
                  <a:lnTo>
                    <a:pt x="9246159" y="7098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145844" y="1775205"/>
            <a:ext cx="8699500" cy="181673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 marR="5080">
              <a:lnSpc>
                <a:spcPct val="80100"/>
              </a:lnSpc>
              <a:spcBef>
                <a:spcPts val="670"/>
              </a:spcBef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website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hosted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URL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shown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below </a:t>
            </a:r>
            <a:r>
              <a:rPr sz="2400" spc="-5" dirty="0">
                <a:latin typeface="Times New Roman"/>
                <a:cs typeface="Times New Roman"/>
              </a:rPr>
              <a:t>has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power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calculator.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could be helpful to allow students to get a better grasp on the </a:t>
            </a:r>
            <a:r>
              <a:rPr sz="2400" spc="-5" dirty="0">
                <a:latin typeface="Times New Roman"/>
                <a:cs typeface="Times New Roman"/>
              </a:rPr>
              <a:t>power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consumption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requirements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computer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components.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200" dirty="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  <a:hlinkClick r:id="rId11"/>
              </a:rPr>
              <a:t>http://outervision.com/power-supply-calculator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6208" y="604265"/>
            <a:ext cx="54610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Select</a:t>
            </a:r>
            <a:r>
              <a:rPr spc="-55" dirty="0"/>
              <a:t> </a:t>
            </a:r>
            <a:r>
              <a:rPr dirty="0"/>
              <a:t>PC</a:t>
            </a:r>
            <a:r>
              <a:rPr spc="-25" dirty="0"/>
              <a:t> </a:t>
            </a:r>
            <a:r>
              <a:rPr dirty="0"/>
              <a:t>Components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6208" y="1637436"/>
            <a:ext cx="7853680" cy="483044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Select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Motherboard,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CPU, Case and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Memory</a:t>
            </a:r>
            <a:endParaRPr sz="2200">
              <a:latin typeface="Times New Roman"/>
              <a:cs typeface="Times New Roman"/>
            </a:endParaRPr>
          </a:p>
          <a:p>
            <a:pPr marL="756285" lvl="1" indent="-287655" algn="just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CPU,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30" dirty="0">
                <a:latin typeface="Times New Roman"/>
                <a:cs typeface="Times New Roman"/>
              </a:rPr>
              <a:t>memory,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motherboard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case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choices are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inter-related.</a:t>
            </a:r>
            <a:endParaRPr sz="2200">
              <a:latin typeface="Times New Roman"/>
              <a:cs typeface="Times New Roman"/>
            </a:endParaRPr>
          </a:p>
          <a:p>
            <a:pPr marL="756285" marR="6985" lvl="1" indent="-287020" algn="just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motherboard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should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support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all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customer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required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applications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still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fit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properly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 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case.</a:t>
            </a:r>
            <a:endParaRPr sz="2200">
              <a:latin typeface="Times New Roman"/>
              <a:cs typeface="Times New Roman"/>
            </a:endParaRPr>
          </a:p>
          <a:p>
            <a:pPr marL="756285" marR="5715" lvl="1" indent="-287020" algn="just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case</a:t>
            </a:r>
            <a:r>
              <a:rPr sz="2200" spc="-5" dirty="0">
                <a:latin typeface="Times New Roman"/>
                <a:cs typeface="Times New Roman"/>
              </a:rPr>
              <a:t> should</a:t>
            </a:r>
            <a:r>
              <a:rPr sz="2200" dirty="0">
                <a:latin typeface="Times New Roman"/>
                <a:cs typeface="Times New Roman"/>
              </a:rPr>
              <a:t> host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the</a:t>
            </a:r>
            <a:r>
              <a:rPr sz="2200" spc="-5" dirty="0">
                <a:latin typeface="Times New Roman"/>
                <a:cs typeface="Times New Roman"/>
              </a:rPr>
              <a:t> motherboard,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5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proper</a:t>
            </a:r>
            <a:r>
              <a:rPr sz="2200" spc="5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power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supply and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provide</a:t>
            </a:r>
            <a:r>
              <a:rPr sz="2200" dirty="0">
                <a:latin typeface="Times New Roman"/>
                <a:cs typeface="Times New Roman"/>
              </a:rPr>
              <a:t> good </a:t>
            </a:r>
            <a:r>
              <a:rPr sz="2200" spc="-5" dirty="0">
                <a:latin typeface="Times New Roman"/>
                <a:cs typeface="Times New Roman"/>
              </a:rPr>
              <a:t>airflow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internal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components.</a:t>
            </a:r>
            <a:endParaRPr sz="2200">
              <a:latin typeface="Times New Roman"/>
              <a:cs typeface="Times New Roman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The CPU must be compatible with motherboard CPU slot and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voltage;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should</a:t>
            </a:r>
            <a:r>
              <a:rPr sz="2200" dirty="0">
                <a:latin typeface="Times New Roman"/>
                <a:cs typeface="Times New Roman"/>
              </a:rPr>
              <a:t> be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compatible</a:t>
            </a:r>
            <a:r>
              <a:rPr sz="2200" dirty="0">
                <a:latin typeface="Times New Roman"/>
                <a:cs typeface="Times New Roman"/>
              </a:rPr>
              <a:t> with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5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chosen</a:t>
            </a:r>
            <a:r>
              <a:rPr sz="2200" spc="5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memory </a:t>
            </a:r>
            <a:r>
              <a:rPr sz="2200" spc="-5" dirty="0">
                <a:latin typeface="Times New Roman"/>
                <a:cs typeface="Times New Roman"/>
              </a:rPr>
              <a:t> speed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maximum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performance.</a:t>
            </a:r>
            <a:endParaRPr sz="2200">
              <a:latin typeface="Times New Roman"/>
              <a:cs typeface="Times New Roman"/>
            </a:endParaRPr>
          </a:p>
          <a:p>
            <a:pPr marL="756285" lvl="1" indent="-287655" algn="just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9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memory</a:t>
            </a:r>
            <a:r>
              <a:rPr sz="2200" spc="9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must</a:t>
            </a:r>
            <a:r>
              <a:rPr sz="2200" spc="9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also</a:t>
            </a:r>
            <a:r>
              <a:rPr sz="2200" spc="9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9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compatible</a:t>
            </a:r>
            <a:r>
              <a:rPr sz="2200" spc="9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with</a:t>
            </a:r>
            <a:r>
              <a:rPr sz="2200" spc="9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motherboard</a:t>
            </a:r>
            <a:endParaRPr sz="2200">
              <a:latin typeface="Times New Roman"/>
              <a:cs typeface="Times New Roman"/>
            </a:endParaRPr>
          </a:p>
          <a:p>
            <a:pPr marL="756285" algn="just">
              <a:lnSpc>
                <a:spcPct val="100000"/>
              </a:lnSpc>
            </a:pPr>
            <a:r>
              <a:rPr sz="2200" spc="-10" dirty="0">
                <a:latin typeface="Times New Roman"/>
                <a:cs typeface="Times New Roman"/>
              </a:rPr>
              <a:t>memory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slots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voltage.</a:t>
            </a:r>
            <a:endParaRPr sz="2200">
              <a:latin typeface="Times New Roman"/>
              <a:cs typeface="Times New Roman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The amount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memory </a:t>
            </a:r>
            <a:r>
              <a:rPr sz="2200" dirty="0">
                <a:latin typeface="Times New Roman"/>
                <a:cs typeface="Times New Roman"/>
              </a:rPr>
              <a:t>will </a:t>
            </a:r>
            <a:r>
              <a:rPr sz="2200" spc="-5" dirty="0">
                <a:latin typeface="Times New Roman"/>
                <a:cs typeface="Times New Roman"/>
              </a:rPr>
              <a:t>depend </a:t>
            </a:r>
            <a:r>
              <a:rPr sz="2200" dirty="0">
                <a:latin typeface="Times New Roman"/>
                <a:cs typeface="Times New Roman"/>
              </a:rPr>
              <a:t>on </a:t>
            </a:r>
            <a:r>
              <a:rPr sz="2200" spc="-1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type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applications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requested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5" dirty="0">
                <a:latin typeface="Times New Roman"/>
                <a:cs typeface="Times New Roman"/>
              </a:rPr>
              <a:t> 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customer.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18032" y="1234439"/>
            <a:ext cx="10829925" cy="5314315"/>
            <a:chOff x="1018032" y="1234439"/>
            <a:chExt cx="10829925" cy="53143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65920" y="4634483"/>
              <a:ext cx="2581655" cy="19141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65920" y="1234439"/>
              <a:ext cx="2581655" cy="11384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65920" y="2418587"/>
              <a:ext cx="2581655" cy="21717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8032" y="1388325"/>
              <a:ext cx="3678936" cy="15853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7468" y="1427987"/>
              <a:ext cx="3564635" cy="4572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25724" y="1434045"/>
              <a:ext cx="4486656" cy="15853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85160" y="1473707"/>
              <a:ext cx="4372355" cy="457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26440"/>
            <a:ext cx="72948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Select</a:t>
            </a:r>
            <a:r>
              <a:rPr spc="-25" dirty="0"/>
              <a:t> </a:t>
            </a:r>
            <a:r>
              <a:rPr dirty="0"/>
              <a:t>PC</a:t>
            </a:r>
            <a:r>
              <a:rPr spc="-5" dirty="0"/>
              <a:t> </a:t>
            </a:r>
            <a:r>
              <a:rPr dirty="0"/>
              <a:t>Components</a:t>
            </a:r>
            <a:r>
              <a:rPr spc="-40" dirty="0"/>
              <a:t> </a:t>
            </a:r>
            <a:r>
              <a:rPr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4618" y="1455521"/>
            <a:ext cx="7377430" cy="517779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Times New Roman"/>
                <a:cs typeface="Times New Roman"/>
              </a:rPr>
              <a:t>Select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Case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Fans</a:t>
            </a:r>
            <a:endParaRPr sz="2000">
              <a:latin typeface="Times New Roman"/>
              <a:cs typeface="Times New Roman"/>
            </a:endParaRPr>
          </a:p>
          <a:p>
            <a:pPr marL="756285" lvl="1" indent="-28765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spc="-5" dirty="0">
                <a:latin typeface="Times New Roman"/>
                <a:cs typeface="Times New Roman"/>
              </a:rPr>
              <a:t>Case</a:t>
            </a:r>
            <a:r>
              <a:rPr sz="2000" dirty="0">
                <a:latin typeface="Times New Roman"/>
                <a:cs typeface="Times New Roman"/>
              </a:rPr>
              <a:t> 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fans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must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chosen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maximize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internal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airflow.</a:t>
            </a:r>
            <a:endParaRPr sz="2000">
              <a:latin typeface="Times New Roman"/>
              <a:cs typeface="Times New Roman"/>
            </a:endParaRPr>
          </a:p>
          <a:p>
            <a:pPr marL="756285" marR="6985" lvl="1" indent="-287020">
              <a:lnSpc>
                <a:spcPts val="2160"/>
              </a:lnSpc>
              <a:spcBef>
                <a:spcPts val="525"/>
              </a:spcBef>
              <a:buFont typeface="Arial MT"/>
              <a:buChar char="•"/>
              <a:tabLst>
                <a:tab pos="756285" algn="l"/>
                <a:tab pos="756920" algn="l"/>
                <a:tab pos="1292225" algn="l"/>
                <a:tab pos="1858010" algn="l"/>
                <a:tab pos="2490470" algn="l"/>
                <a:tab pos="2856230" algn="l"/>
                <a:tab pos="3307715" algn="l"/>
                <a:tab pos="3883660" algn="l"/>
                <a:tab pos="4391660" algn="l"/>
                <a:tab pos="4773930" algn="l"/>
                <a:tab pos="5561965" algn="l"/>
                <a:tab pos="6011545" algn="l"/>
                <a:tab pos="6787515" algn="l"/>
              </a:tabLst>
            </a:pPr>
            <a:r>
              <a:rPr sz="2000" dirty="0">
                <a:latin typeface="Times New Roman"/>
                <a:cs typeface="Times New Roman"/>
              </a:rPr>
              <a:t>The	f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ns	</a:t>
            </a:r>
            <a:r>
              <a:rPr sz="2000" spc="-2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ust	</a:t>
            </a:r>
            <a:r>
              <a:rPr sz="2000" spc="-10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Times New Roman"/>
                <a:cs typeface="Times New Roman"/>
              </a:rPr>
              <a:t>it	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he	c</a:t>
            </a:r>
            <a:r>
              <a:rPr sz="2000" spc="-2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se	a</a:t>
            </a:r>
            <a:r>
              <a:rPr sz="2000" spc="-1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d	</a:t>
            </a:r>
            <a:r>
              <a:rPr sz="2000" spc="5" dirty="0">
                <a:latin typeface="Times New Roman"/>
                <a:cs typeface="Times New Roman"/>
              </a:rPr>
              <a:t>b</a:t>
            </a:r>
            <a:r>
              <a:rPr sz="2000" dirty="0">
                <a:latin typeface="Times New Roman"/>
                <a:cs typeface="Times New Roman"/>
              </a:rPr>
              <a:t>e	</a:t>
            </a:r>
            <a:r>
              <a:rPr sz="2000" spc="-10" dirty="0">
                <a:latin typeface="Times New Roman"/>
                <a:cs typeface="Times New Roman"/>
              </a:rPr>
              <a:t>w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2000" spc="-25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	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he	pow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r	l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spc="-2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s  provided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 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power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supply.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Times New Roman"/>
                <a:cs typeface="Times New Roman"/>
              </a:rPr>
              <a:t>Select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Power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Supply</a:t>
            </a:r>
            <a:endParaRPr sz="2000">
              <a:latin typeface="Times New Roman"/>
              <a:cs typeface="Times New Roman"/>
            </a:endParaRPr>
          </a:p>
          <a:p>
            <a:pPr marL="756285" lvl="1" indent="-287655">
              <a:lnSpc>
                <a:spcPts val="2280"/>
              </a:lnSpc>
              <a:spcBef>
                <a:spcPts val="250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power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supply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should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be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selected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based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maximum</a:t>
            </a:r>
            <a:endParaRPr sz="2000">
              <a:latin typeface="Times New Roman"/>
              <a:cs typeface="Times New Roman"/>
            </a:endParaRPr>
          </a:p>
          <a:p>
            <a:pPr marL="756285">
              <a:lnSpc>
                <a:spcPts val="2280"/>
              </a:lnSpc>
            </a:pPr>
            <a:r>
              <a:rPr sz="2000" spc="-5" dirty="0">
                <a:latin typeface="Times New Roman"/>
                <a:cs typeface="Times New Roman"/>
              </a:rPr>
              <a:t>amount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power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all</a:t>
            </a:r>
            <a:r>
              <a:rPr sz="2000" dirty="0">
                <a:latin typeface="Times New Roman"/>
                <a:cs typeface="Times New Roman"/>
              </a:rPr>
              <a:t> 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internal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components.</a:t>
            </a:r>
            <a:endParaRPr sz="200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ts val="2160"/>
              </a:lnSpc>
              <a:spcBef>
                <a:spcPts val="540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spc="-5" dirty="0">
                <a:latin typeface="Times New Roman"/>
                <a:cs typeface="Times New Roman"/>
              </a:rPr>
              <a:t>Remember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that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some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components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will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draw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more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power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while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under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heavy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load.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Sel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ct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d</a:t>
            </a:r>
            <a:r>
              <a:rPr sz="2000" dirty="0">
                <a:latin typeface="Times New Roman"/>
                <a:cs typeface="Times New Roman"/>
              </a:rPr>
              <a:t>apter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r</a:t>
            </a:r>
            <a:r>
              <a:rPr sz="2000" spc="5" dirty="0">
                <a:latin typeface="Times New Roman"/>
                <a:cs typeface="Times New Roman"/>
              </a:rPr>
              <a:t>d</a:t>
            </a:r>
            <a:r>
              <a:rPr sz="2000" dirty="0"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  <a:p>
            <a:pPr marL="756285" lvl="1" indent="-287655">
              <a:lnSpc>
                <a:spcPts val="2280"/>
              </a:lnSpc>
              <a:spcBef>
                <a:spcPts val="260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Make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sure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motherboard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compatible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expansion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slots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to</a:t>
            </a:r>
            <a:endParaRPr sz="2000">
              <a:latin typeface="Times New Roman"/>
              <a:cs typeface="Times New Roman"/>
            </a:endParaRPr>
          </a:p>
          <a:p>
            <a:pPr marL="756285">
              <a:lnSpc>
                <a:spcPts val="2280"/>
              </a:lnSpc>
            </a:pPr>
            <a:r>
              <a:rPr sz="2000" dirty="0">
                <a:latin typeface="Times New Roman"/>
                <a:cs typeface="Times New Roman"/>
              </a:rPr>
              <a:t>support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adapter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cards.</a:t>
            </a:r>
            <a:endParaRPr sz="2000">
              <a:latin typeface="Times New Roman"/>
              <a:cs typeface="Times New Roman"/>
            </a:endParaRPr>
          </a:p>
          <a:p>
            <a:pPr marL="756285" marR="8255" lvl="1" indent="-287020">
              <a:lnSpc>
                <a:spcPts val="2160"/>
              </a:lnSpc>
              <a:spcBef>
                <a:spcPts val="540"/>
              </a:spcBef>
              <a:buFont typeface="Arial MT"/>
              <a:buChar char="•"/>
              <a:tabLst>
                <a:tab pos="756285" algn="l"/>
                <a:tab pos="756920" algn="l"/>
                <a:tab pos="1289685" algn="l"/>
                <a:tab pos="2722245" algn="l"/>
                <a:tab pos="3351529" algn="l"/>
                <a:tab pos="3895725" algn="l"/>
                <a:tab pos="4514850" algn="l"/>
                <a:tab pos="5397500" algn="l"/>
                <a:tab pos="6564630" algn="l"/>
                <a:tab pos="7166609" algn="l"/>
              </a:tabLst>
            </a:pPr>
            <a:r>
              <a:rPr sz="2000" dirty="0">
                <a:latin typeface="Times New Roman"/>
                <a:cs typeface="Times New Roman"/>
              </a:rPr>
              <a:t>The	</a:t>
            </a:r>
            <a:r>
              <a:rPr sz="2000" spc="-2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oth</a:t>
            </a:r>
            <a:r>
              <a:rPr sz="2000" spc="-1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rb</a:t>
            </a:r>
            <a:r>
              <a:rPr sz="2000" spc="-10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d	</a:t>
            </a:r>
            <a:r>
              <a:rPr sz="2000" spc="-2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ust	a</a:t>
            </a:r>
            <a:r>
              <a:rPr sz="2000" spc="-10" dirty="0">
                <a:latin typeface="Times New Roman"/>
                <a:cs typeface="Times New Roman"/>
              </a:rPr>
              <a:t>l</a:t>
            </a:r>
            <a:r>
              <a:rPr sz="2000" spc="-15" dirty="0">
                <a:latin typeface="Times New Roman"/>
                <a:cs typeface="Times New Roman"/>
              </a:rPr>
              <a:t>s</a:t>
            </a:r>
            <a:r>
              <a:rPr sz="2000" dirty="0">
                <a:latin typeface="Times New Roman"/>
                <a:cs typeface="Times New Roman"/>
              </a:rPr>
              <a:t>o	ha</a:t>
            </a:r>
            <a:r>
              <a:rPr sz="2000" spc="5" dirty="0">
                <a:latin typeface="Times New Roman"/>
                <a:cs typeface="Times New Roman"/>
              </a:rPr>
              <a:t>v</a:t>
            </a:r>
            <a:r>
              <a:rPr sz="2000" dirty="0">
                <a:latin typeface="Times New Roman"/>
                <a:cs typeface="Times New Roman"/>
              </a:rPr>
              <a:t>e	</a:t>
            </a:r>
            <a:r>
              <a:rPr sz="2000" spc="-1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nou</a:t>
            </a:r>
            <a:r>
              <a:rPr sz="2000" spc="-15" dirty="0">
                <a:latin typeface="Times New Roman"/>
                <a:cs typeface="Times New Roman"/>
              </a:rPr>
              <a:t>g</a:t>
            </a:r>
            <a:r>
              <a:rPr sz="2000" dirty="0">
                <a:latin typeface="Times New Roman"/>
                <a:cs typeface="Times New Roman"/>
              </a:rPr>
              <a:t>h	ex</a:t>
            </a:r>
            <a:r>
              <a:rPr sz="2000" spc="5" dirty="0">
                <a:latin typeface="Times New Roman"/>
                <a:cs typeface="Times New Roman"/>
              </a:rPr>
              <a:t>p</a:t>
            </a:r>
            <a:r>
              <a:rPr sz="2000" spc="-1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ns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on	s</a:t>
            </a:r>
            <a:r>
              <a:rPr sz="2000" spc="-20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ots	</a:t>
            </a:r>
            <a:r>
              <a:rPr sz="2000" spc="-20" dirty="0">
                <a:latin typeface="Times New Roman"/>
                <a:cs typeface="Times New Roman"/>
              </a:rPr>
              <a:t>to  </a:t>
            </a:r>
            <a:r>
              <a:rPr sz="2000" dirty="0">
                <a:latin typeface="Times New Roman"/>
                <a:cs typeface="Times New Roman"/>
              </a:rPr>
              <a:t>receive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all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adapter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cards.</a:t>
            </a:r>
            <a:endParaRPr sz="2000">
              <a:latin typeface="Times New Roman"/>
              <a:cs typeface="Times New Roman"/>
            </a:endParaRPr>
          </a:p>
          <a:p>
            <a:pPr marL="756285" lvl="1" indent="-287655">
              <a:lnSpc>
                <a:spcPts val="2280"/>
              </a:lnSpc>
              <a:spcBef>
                <a:spcPts val="219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spc="-5" dirty="0">
                <a:latin typeface="Times New Roman"/>
                <a:cs typeface="Times New Roman"/>
              </a:rPr>
              <a:t>Customer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needs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will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define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what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adapter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cards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must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procured</a:t>
            </a:r>
            <a:endParaRPr sz="2000">
              <a:latin typeface="Times New Roman"/>
              <a:cs typeface="Times New Roman"/>
            </a:endParaRPr>
          </a:p>
          <a:p>
            <a:pPr marL="756285">
              <a:lnSpc>
                <a:spcPts val="2280"/>
              </a:lnSpc>
            </a:pP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installed.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36675" y="1318221"/>
            <a:ext cx="10977880" cy="4907915"/>
            <a:chOff x="836675" y="1318221"/>
            <a:chExt cx="10977880" cy="49079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6675" y="1318221"/>
              <a:ext cx="3680460" cy="15853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6111" y="1357883"/>
              <a:ext cx="3566160" cy="457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60180" y="1690115"/>
              <a:ext cx="2753868" cy="45354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4368" y="1363941"/>
              <a:ext cx="4488180" cy="15853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03803" y="1403603"/>
              <a:ext cx="4373880" cy="457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26440"/>
            <a:ext cx="72948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Select</a:t>
            </a:r>
            <a:r>
              <a:rPr spc="-25" dirty="0"/>
              <a:t> </a:t>
            </a:r>
            <a:r>
              <a:rPr dirty="0"/>
              <a:t>PC</a:t>
            </a:r>
            <a:r>
              <a:rPr spc="-5" dirty="0"/>
              <a:t> </a:t>
            </a:r>
            <a:r>
              <a:rPr dirty="0"/>
              <a:t>Components</a:t>
            </a:r>
            <a:r>
              <a:rPr spc="-40" dirty="0"/>
              <a:t> </a:t>
            </a:r>
            <a:r>
              <a:rPr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0946"/>
            <a:ext cx="6939280" cy="401574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dirty="0">
                <a:latin typeface="Times New Roman"/>
                <a:cs typeface="Times New Roman"/>
              </a:rPr>
              <a:t>Select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Drives</a:t>
            </a:r>
          </a:p>
          <a:p>
            <a:pPr marL="756285" marR="5080" lvl="1" indent="-287020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756285" algn="l"/>
                <a:tab pos="756920" algn="l"/>
                <a:tab pos="1884045" algn="l"/>
                <a:tab pos="2463800" algn="l"/>
                <a:tab pos="3111500" algn="l"/>
                <a:tab pos="3928110" algn="l"/>
                <a:tab pos="4252595" algn="l"/>
                <a:tab pos="4621530" algn="l"/>
                <a:tab pos="5848350" algn="l"/>
              </a:tabLst>
            </a:pPr>
            <a:r>
              <a:rPr sz="2000" spc="-5" dirty="0">
                <a:latin typeface="Times New Roman"/>
                <a:cs typeface="Times New Roman"/>
              </a:rPr>
              <a:t>Important	hard	drive	factors	to	</a:t>
            </a:r>
            <a:r>
              <a:rPr sz="2000" dirty="0">
                <a:latin typeface="Times New Roman"/>
                <a:cs typeface="Times New Roman"/>
              </a:rPr>
              <a:t>be	</a:t>
            </a:r>
            <a:r>
              <a:rPr sz="2000" spc="-5" dirty="0">
                <a:latin typeface="Times New Roman"/>
                <a:cs typeface="Times New Roman"/>
              </a:rPr>
              <a:t>considered	are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speed,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space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communication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interface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type.</a:t>
            </a:r>
            <a:endParaRPr sz="20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drive’s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underlying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technology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(HDD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vs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SSD)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directly</a:t>
            </a:r>
            <a:endParaRPr sz="2000" dirty="0">
              <a:latin typeface="Times New Roman"/>
              <a:cs typeface="Times New Roman"/>
            </a:endParaRPr>
          </a:p>
          <a:p>
            <a:pPr marL="756285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impacts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speed.</a:t>
            </a:r>
          </a:p>
          <a:p>
            <a:pPr marL="241300" indent="-229235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spc="-5" dirty="0">
                <a:latin typeface="Times New Roman"/>
                <a:cs typeface="Times New Roman"/>
              </a:rPr>
              <a:t>Select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Media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Reader</a:t>
            </a:r>
          </a:p>
          <a:p>
            <a:pPr marL="756285" lvl="1" indent="-287020">
              <a:lnSpc>
                <a:spcPct val="100000"/>
              </a:lnSpc>
              <a:spcBef>
                <a:spcPts val="490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media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reader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must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5" dirty="0">
                <a:latin typeface="Times New Roman"/>
                <a:cs typeface="Times New Roman"/>
              </a:rPr>
              <a:t> compatible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5" dirty="0">
                <a:latin typeface="Times New Roman"/>
                <a:cs typeface="Times New Roman"/>
              </a:rPr>
              <a:t> customer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media.</a:t>
            </a:r>
            <a:endParaRPr sz="2000" dirty="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spc="-5" dirty="0">
                <a:latin typeface="Times New Roman"/>
                <a:cs typeface="Times New Roman"/>
              </a:rPr>
              <a:t>Select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Optical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Drives</a:t>
            </a:r>
          </a:p>
          <a:p>
            <a:pPr marL="756285" lvl="1" indent="-287020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spc="-5" dirty="0">
                <a:latin typeface="Times New Roman"/>
                <a:cs typeface="Times New Roman"/>
              </a:rPr>
              <a:t>Make</a:t>
            </a:r>
            <a:r>
              <a:rPr sz="2000" dirty="0">
                <a:latin typeface="Times New Roman"/>
                <a:cs typeface="Times New Roman"/>
              </a:rPr>
              <a:t> sure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drive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 compatible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 </a:t>
            </a:r>
            <a:r>
              <a:rPr sz="2000" spc="-5" dirty="0">
                <a:latin typeface="Times New Roman"/>
                <a:cs typeface="Times New Roman"/>
              </a:rPr>
              <a:t>customer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media.</a:t>
            </a:r>
            <a:endParaRPr sz="2000" dirty="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756285" algn="l"/>
                <a:tab pos="756920" algn="l"/>
                <a:tab pos="1555115" algn="l"/>
                <a:tab pos="2465070" algn="l"/>
                <a:tab pos="2882900" algn="l"/>
                <a:tab pos="3959860" algn="l"/>
                <a:tab pos="4488815" algn="l"/>
                <a:tab pos="5350510" algn="l"/>
              </a:tabLst>
            </a:pPr>
            <a:r>
              <a:rPr sz="2000" dirty="0">
                <a:latin typeface="Times New Roman"/>
                <a:cs typeface="Times New Roman"/>
              </a:rPr>
              <a:t>Oth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r	fa</a:t>
            </a:r>
            <a:r>
              <a:rPr sz="2000" spc="-10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15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rs	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o	</a:t>
            </a:r>
            <a:r>
              <a:rPr sz="2000" spc="-15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ons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d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r	</a:t>
            </a:r>
            <a:r>
              <a:rPr sz="2000" spc="-1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re	sp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-10" dirty="0">
                <a:latin typeface="Times New Roman"/>
                <a:cs typeface="Times New Roman"/>
              </a:rPr>
              <a:t>d</a:t>
            </a:r>
            <a:r>
              <a:rPr sz="2000" dirty="0">
                <a:latin typeface="Times New Roman"/>
                <a:cs typeface="Times New Roman"/>
              </a:rPr>
              <a:t>,	co</a:t>
            </a:r>
            <a:r>
              <a:rPr sz="2000" spc="-20" dirty="0">
                <a:latin typeface="Times New Roman"/>
                <a:cs typeface="Times New Roman"/>
              </a:rPr>
              <a:t>m</a:t>
            </a:r>
            <a:r>
              <a:rPr sz="2000" spc="-2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u</a:t>
            </a:r>
            <a:r>
              <a:rPr sz="2000" spc="1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10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on  interface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type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ability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write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 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media.</a:t>
            </a:r>
            <a:endParaRPr sz="2000" dirty="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8763" y="1365503"/>
            <a:ext cx="11348085" cy="4660900"/>
            <a:chOff x="778763" y="1365503"/>
            <a:chExt cx="11348085" cy="46609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763" y="1539201"/>
              <a:ext cx="3678936" cy="15853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199" y="1578863"/>
              <a:ext cx="3564636" cy="457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86456" y="1584921"/>
              <a:ext cx="4486656" cy="1585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5891" y="1624583"/>
              <a:ext cx="4372356" cy="457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08720" y="1365503"/>
              <a:ext cx="2737104" cy="271729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29599" y="4134611"/>
              <a:ext cx="3896867" cy="189128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26440"/>
            <a:ext cx="72948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Select</a:t>
            </a:r>
            <a:r>
              <a:rPr spc="-25" dirty="0"/>
              <a:t> </a:t>
            </a:r>
            <a:r>
              <a:rPr dirty="0"/>
              <a:t>PC</a:t>
            </a:r>
            <a:r>
              <a:rPr spc="-5" dirty="0"/>
              <a:t> </a:t>
            </a:r>
            <a:r>
              <a:rPr dirty="0"/>
              <a:t>Components</a:t>
            </a:r>
            <a:r>
              <a:rPr spc="-40" dirty="0"/>
              <a:t> </a:t>
            </a:r>
            <a:r>
              <a:rPr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6868" y="1754098"/>
            <a:ext cx="6619875" cy="3847848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Times New Roman"/>
                <a:cs typeface="Times New Roman"/>
              </a:rPr>
              <a:t>Select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External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Storage</a:t>
            </a:r>
          </a:p>
          <a:p>
            <a:pPr marL="756285" marR="5080" lvl="1" indent="-287020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756285" algn="l"/>
                <a:tab pos="756920" algn="l"/>
                <a:tab pos="1898014" algn="l"/>
                <a:tab pos="2728595" algn="l"/>
                <a:tab pos="3422015" algn="l"/>
                <a:tab pos="4462780" algn="l"/>
                <a:tab pos="5421630" algn="l"/>
                <a:tab pos="6296660" algn="l"/>
              </a:tabLst>
            </a:pP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2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port</a:t>
            </a:r>
            <a:r>
              <a:rPr sz="2000" spc="-1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nt	fa</a:t>
            </a:r>
            <a:r>
              <a:rPr sz="2000" spc="-10" dirty="0">
                <a:latin typeface="Times New Roman"/>
                <a:cs typeface="Times New Roman"/>
              </a:rPr>
              <a:t>c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ors	when	s</a:t>
            </a:r>
            <a:r>
              <a:rPr sz="2000" spc="-1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l</a:t>
            </a:r>
            <a:r>
              <a:rPr sz="2000" spc="-2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c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15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g	ext</a:t>
            </a:r>
            <a:r>
              <a:rPr sz="2000" spc="-15" dirty="0">
                <a:latin typeface="Times New Roman"/>
                <a:cs typeface="Times New Roman"/>
              </a:rPr>
              <a:t>e</a:t>
            </a:r>
            <a:r>
              <a:rPr sz="2000" spc="-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nal	s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ge	</a:t>
            </a:r>
            <a:r>
              <a:rPr sz="2000" spc="-1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re  storage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space,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communication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interface.</a:t>
            </a:r>
          </a:p>
          <a:p>
            <a:pPr marL="756285" marR="6350" lvl="1" indent="-287020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756285" algn="l"/>
                <a:tab pos="756920" algn="l"/>
                <a:tab pos="1591310" algn="l"/>
                <a:tab pos="2268220" algn="l"/>
                <a:tab pos="2835275" algn="l"/>
                <a:tab pos="4046854" algn="l"/>
                <a:tab pos="4643120" algn="l"/>
                <a:tab pos="5645785" algn="l"/>
                <a:tab pos="6407785" algn="l"/>
              </a:tabLst>
            </a:pPr>
            <a:r>
              <a:rPr sz="2000" dirty="0">
                <a:latin typeface="Times New Roman"/>
                <a:cs typeface="Times New Roman"/>
              </a:rPr>
              <a:t>M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ke	</a:t>
            </a:r>
            <a:r>
              <a:rPr sz="2000" spc="-15" dirty="0">
                <a:latin typeface="Times New Roman"/>
                <a:cs typeface="Times New Roman"/>
              </a:rPr>
              <a:t>s</a:t>
            </a:r>
            <a:r>
              <a:rPr sz="2000" dirty="0">
                <a:latin typeface="Times New Roman"/>
                <a:cs typeface="Times New Roman"/>
              </a:rPr>
              <a:t>ure	the	</a:t>
            </a:r>
            <a:r>
              <a:rPr sz="2000" spc="-15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-2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10" dirty="0">
                <a:latin typeface="Times New Roman"/>
                <a:cs typeface="Times New Roman"/>
              </a:rPr>
              <a:t>u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2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r	has	</a:t>
            </a:r>
            <a:r>
              <a:rPr sz="2000" spc="-1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nou</a:t>
            </a:r>
            <a:r>
              <a:rPr sz="2000" spc="-15" dirty="0">
                <a:latin typeface="Times New Roman"/>
                <a:cs typeface="Times New Roman"/>
              </a:rPr>
              <a:t>g</a:t>
            </a:r>
            <a:r>
              <a:rPr sz="2000" dirty="0">
                <a:latin typeface="Times New Roman"/>
                <a:cs typeface="Times New Roman"/>
              </a:rPr>
              <a:t>h	p</a:t>
            </a:r>
            <a:r>
              <a:rPr sz="2000" spc="-15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rts	</a:t>
            </a:r>
            <a:r>
              <a:rPr sz="2000" spc="-5" dirty="0">
                <a:latin typeface="Times New Roman"/>
                <a:cs typeface="Times New Roman"/>
              </a:rPr>
              <a:t>to  accommodate</a:t>
            </a:r>
            <a:r>
              <a:rPr sz="2000" dirty="0">
                <a:latin typeface="Times New Roman"/>
                <a:cs typeface="Times New Roman"/>
              </a:rPr>
              <a:t> 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external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peripherals.</a:t>
            </a:r>
          </a:p>
          <a:p>
            <a:pPr marL="241300" indent="-228600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smtClean="0">
                <a:latin typeface="Times New Roman"/>
                <a:cs typeface="Times New Roman"/>
              </a:rPr>
              <a:t>Select</a:t>
            </a:r>
            <a:r>
              <a:rPr sz="2000" spc="-30" smtClean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I/O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</a:t>
            </a:r>
          </a:p>
          <a:p>
            <a:pPr marL="756285" lvl="1" indent="-28765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selection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I/O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devices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application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specific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endParaRPr sz="2000" dirty="0">
              <a:latin typeface="Times New Roman"/>
              <a:cs typeface="Times New Roman"/>
            </a:endParaRP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depend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customer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requirements.</a:t>
            </a:r>
          </a:p>
          <a:p>
            <a:pPr marL="756285" marR="6985" lvl="1" indent="-287020" algn="just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756920" algn="l"/>
              </a:tabLst>
            </a:pPr>
            <a:r>
              <a:rPr sz="2000" spc="-5" dirty="0">
                <a:latin typeface="Times New Roman"/>
                <a:cs typeface="Times New Roman"/>
              </a:rPr>
              <a:t>Make</a:t>
            </a:r>
            <a:r>
              <a:rPr sz="2000" dirty="0">
                <a:latin typeface="Times New Roman"/>
                <a:cs typeface="Times New Roman"/>
              </a:rPr>
              <a:t> sure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computer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has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enough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communication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ports and that they are compatible with the types required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I/O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18388" y="1094232"/>
            <a:ext cx="10746105" cy="5398135"/>
            <a:chOff x="818388" y="1094232"/>
            <a:chExt cx="10746105" cy="53981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8388" y="1536153"/>
              <a:ext cx="3678936" cy="15853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824" y="1575816"/>
              <a:ext cx="3564636" cy="457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26080" y="1581873"/>
              <a:ext cx="4486656" cy="1585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85516" y="1621536"/>
              <a:ext cx="4372356" cy="457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29471" y="3753611"/>
              <a:ext cx="2834639" cy="273862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29471" y="1094232"/>
              <a:ext cx="2834639" cy="25831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26440"/>
            <a:ext cx="73488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Specialized</a:t>
            </a:r>
            <a:r>
              <a:rPr spc="-20" dirty="0"/>
              <a:t> </a:t>
            </a:r>
            <a:r>
              <a:rPr dirty="0"/>
              <a:t>Computer</a:t>
            </a:r>
            <a:r>
              <a:rPr spc="-125" dirty="0"/>
              <a:t> </a:t>
            </a:r>
            <a:r>
              <a:rPr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49120"/>
            <a:ext cx="6718934" cy="492950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41300" indent="-229235" algn="just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41935" algn="l"/>
              </a:tabLst>
            </a:pPr>
            <a:r>
              <a:rPr sz="2000" dirty="0">
                <a:latin typeface="Times New Roman"/>
                <a:cs typeface="Times New Roman"/>
              </a:rPr>
              <a:t>Thick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Clients</a:t>
            </a:r>
            <a:endParaRPr sz="2000">
              <a:latin typeface="Times New Roman"/>
              <a:cs typeface="Times New Roman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Thin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clients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little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processing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power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and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are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designed</a:t>
            </a:r>
            <a:endParaRPr sz="2000">
              <a:latin typeface="Times New Roman"/>
              <a:cs typeface="Times New Roman"/>
            </a:endParaRPr>
          </a:p>
          <a:p>
            <a:pPr marL="756285" algn="just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to act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as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terminal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(thick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client).</a:t>
            </a:r>
            <a:endParaRPr sz="2000">
              <a:latin typeface="Times New Roman"/>
              <a:cs typeface="Times New Roman"/>
            </a:endParaRPr>
          </a:p>
          <a:p>
            <a:pPr marL="756285" marR="5715" lvl="1" indent="-287020" algn="just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Thick </a:t>
            </a:r>
            <a:r>
              <a:rPr sz="2000" spc="-5" dirty="0">
                <a:latin typeface="Times New Roman"/>
                <a:cs typeface="Times New Roman"/>
              </a:rPr>
              <a:t>clients </a:t>
            </a:r>
            <a:r>
              <a:rPr sz="2000" dirty="0">
                <a:latin typeface="Times New Roman"/>
                <a:cs typeface="Times New Roman"/>
              </a:rPr>
              <a:t>have </a:t>
            </a:r>
            <a:r>
              <a:rPr sz="2000" spc="-5" dirty="0">
                <a:latin typeface="Times New Roman"/>
                <a:cs typeface="Times New Roman"/>
              </a:rPr>
              <a:t>more </a:t>
            </a:r>
            <a:r>
              <a:rPr sz="2000" dirty="0">
                <a:latin typeface="Times New Roman"/>
                <a:cs typeface="Times New Roman"/>
              </a:rPr>
              <a:t>powerful </a:t>
            </a:r>
            <a:r>
              <a:rPr sz="2000" spc="-5" dirty="0">
                <a:latin typeface="Times New Roman"/>
                <a:cs typeface="Times New Roman"/>
              </a:rPr>
              <a:t>CPUs, more memory </a:t>
            </a:r>
            <a:r>
              <a:rPr sz="2000" dirty="0">
                <a:latin typeface="Times New Roman"/>
                <a:cs typeface="Times New Roman"/>
              </a:rPr>
              <a:t> and </a:t>
            </a:r>
            <a:r>
              <a:rPr sz="2000" spc="-10" dirty="0">
                <a:latin typeface="Times New Roman"/>
                <a:cs typeface="Times New Roman"/>
              </a:rPr>
              <a:t>their </a:t>
            </a:r>
            <a:r>
              <a:rPr sz="2000" dirty="0">
                <a:latin typeface="Times New Roman"/>
                <a:cs typeface="Times New Roman"/>
              </a:rPr>
              <a:t>own </a:t>
            </a:r>
            <a:r>
              <a:rPr sz="2000" spc="-5" dirty="0">
                <a:latin typeface="Times New Roman"/>
                <a:cs typeface="Times New Roman"/>
              </a:rPr>
              <a:t>storage. They serve as processing stations </a:t>
            </a:r>
            <a:r>
              <a:rPr sz="2000" dirty="0">
                <a:latin typeface="Times New Roman"/>
                <a:cs typeface="Times New Roman"/>
              </a:rPr>
              <a:t> 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clients.</a:t>
            </a:r>
            <a:endParaRPr sz="2000">
              <a:latin typeface="Times New Roman"/>
              <a:cs typeface="Times New Roman"/>
            </a:endParaRPr>
          </a:p>
          <a:p>
            <a:pPr marL="241300" indent="-229235" algn="just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241935" algn="l"/>
              </a:tabLst>
            </a:pPr>
            <a:r>
              <a:rPr sz="2000" dirty="0">
                <a:latin typeface="Times New Roman"/>
                <a:cs typeface="Times New Roman"/>
              </a:rPr>
              <a:t>CAx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Workstations</a:t>
            </a:r>
            <a:endParaRPr sz="2000">
              <a:latin typeface="Times New Roman"/>
              <a:cs typeface="Times New Roman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490"/>
              </a:spcBef>
              <a:buFont typeface="Arial MT"/>
              <a:buChar char="•"/>
              <a:tabLst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Designed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CAD 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CAM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applications.</a:t>
            </a:r>
            <a:endParaRPr sz="2000">
              <a:latin typeface="Times New Roman"/>
              <a:cs typeface="Times New Roman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Plenty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RAM,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fast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disks,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powerful</a:t>
            </a:r>
            <a:r>
              <a:rPr sz="2000" dirty="0">
                <a:latin typeface="Times New Roman"/>
                <a:cs typeface="Times New Roman"/>
              </a:rPr>
              <a:t> CPU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special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common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resources.</a:t>
            </a:r>
            <a:endParaRPr sz="2000">
              <a:latin typeface="Times New Roman"/>
              <a:cs typeface="Times New Roman"/>
            </a:endParaRPr>
          </a:p>
          <a:p>
            <a:pPr marL="241300" indent="-229235" algn="just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41935" algn="l"/>
              </a:tabLst>
            </a:pPr>
            <a:r>
              <a:rPr sz="2000" dirty="0">
                <a:latin typeface="Times New Roman"/>
                <a:cs typeface="Times New Roman"/>
              </a:rPr>
              <a:t>Audio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Video </a:t>
            </a:r>
            <a:r>
              <a:rPr sz="2000" dirty="0">
                <a:latin typeface="Times New Roman"/>
                <a:cs typeface="Times New Roman"/>
              </a:rPr>
              <a:t>Editing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Workstations</a:t>
            </a:r>
            <a:endParaRPr sz="2000">
              <a:latin typeface="Times New Roman"/>
              <a:cs typeface="Times New Roman"/>
            </a:endParaRPr>
          </a:p>
          <a:p>
            <a:pPr marL="756285" marR="5715" lvl="1" indent="-287020" algn="just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756920" algn="l"/>
              </a:tabLst>
            </a:pPr>
            <a:r>
              <a:rPr sz="2000" spc="-5" dirty="0">
                <a:latin typeface="Times New Roman"/>
                <a:cs typeface="Times New Roman"/>
              </a:rPr>
              <a:t>Common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editing</a:t>
            </a:r>
            <a:r>
              <a:rPr sz="2000" spc="-5" dirty="0">
                <a:latin typeface="Times New Roman"/>
                <a:cs typeface="Times New Roman"/>
              </a:rPr>
              <a:t> workstation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resources</a:t>
            </a:r>
            <a:r>
              <a:rPr sz="2000" dirty="0">
                <a:latin typeface="Times New Roman"/>
                <a:cs typeface="Times New Roman"/>
              </a:rPr>
              <a:t> include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much </a:t>
            </a:r>
            <a:r>
              <a:rPr sz="2000" dirty="0">
                <a:latin typeface="Times New Roman"/>
                <a:cs typeface="Times New Roman"/>
              </a:rPr>
              <a:t> RAM, </a:t>
            </a:r>
            <a:r>
              <a:rPr sz="2000" spc="-5" dirty="0">
                <a:latin typeface="Times New Roman"/>
                <a:cs typeface="Times New Roman"/>
              </a:rPr>
              <a:t>fast disks, powerful CPU and special adapter cards </a:t>
            </a:r>
            <a:r>
              <a:rPr sz="2000" dirty="0">
                <a:latin typeface="Times New Roman"/>
                <a:cs typeface="Times New Roman"/>
              </a:rPr>
              <a:t> such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audio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video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capture.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4775" y="1456905"/>
            <a:ext cx="11317605" cy="4761230"/>
            <a:chOff x="874775" y="1456905"/>
            <a:chExt cx="11317605" cy="47612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775" y="1456905"/>
              <a:ext cx="3678936" cy="15853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4211" y="1496568"/>
              <a:ext cx="3564636" cy="457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82468" y="1502625"/>
              <a:ext cx="4486656" cy="1585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1903" y="1542288"/>
              <a:ext cx="4372356" cy="457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8119" y="1757172"/>
              <a:ext cx="4373880" cy="15163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20328" y="3584447"/>
              <a:ext cx="2633472" cy="26334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26440"/>
            <a:ext cx="91789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Specialized</a:t>
            </a:r>
            <a:r>
              <a:rPr spc="-15" dirty="0"/>
              <a:t> </a:t>
            </a:r>
            <a:r>
              <a:rPr dirty="0"/>
              <a:t>Computer</a:t>
            </a:r>
            <a:r>
              <a:rPr spc="-114" dirty="0"/>
              <a:t> </a:t>
            </a:r>
            <a:r>
              <a:rPr dirty="0"/>
              <a:t>Systems</a:t>
            </a:r>
            <a:r>
              <a:rPr spc="-25" dirty="0"/>
              <a:t> </a:t>
            </a:r>
            <a:r>
              <a:rPr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567587"/>
            <a:ext cx="8482965" cy="517842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10" dirty="0">
                <a:latin typeface="Times New Roman"/>
                <a:cs typeface="Times New Roman"/>
              </a:rPr>
              <a:t>Virtualization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Workstations</a:t>
            </a:r>
            <a:endParaRPr sz="20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270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workstations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designed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run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computers</a:t>
            </a:r>
            <a:endParaRPr sz="2000" dirty="0">
              <a:latin typeface="Times New Roman"/>
              <a:cs typeface="Times New Roman"/>
            </a:endParaRPr>
          </a:p>
          <a:p>
            <a:pPr marL="756285" marR="6350" lvl="1" indent="-287020">
              <a:lnSpc>
                <a:spcPts val="2160"/>
              </a:lnSpc>
              <a:spcBef>
                <a:spcPts val="525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spc="-20" dirty="0">
                <a:latin typeface="Times New Roman"/>
                <a:cs typeface="Times New Roman"/>
              </a:rPr>
              <a:t>Virtual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computers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share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workstation’s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physical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resources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such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CPU,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memory</a:t>
            </a:r>
            <a:r>
              <a:rPr sz="2000" dirty="0">
                <a:latin typeface="Times New Roman"/>
                <a:cs typeface="Times New Roman"/>
              </a:rPr>
              <a:t> and disks.</a:t>
            </a:r>
          </a:p>
          <a:p>
            <a:pPr marL="756285" lvl="1" indent="-287020">
              <a:lnSpc>
                <a:spcPts val="2280"/>
              </a:lnSpc>
              <a:spcBef>
                <a:spcPts val="229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selection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physical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resources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will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depend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on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number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purpose</a:t>
            </a:r>
          </a:p>
          <a:p>
            <a:pPr marL="756285">
              <a:lnSpc>
                <a:spcPts val="2280"/>
              </a:lnSpc>
            </a:pP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virtual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machines.</a:t>
            </a:r>
            <a:endParaRPr sz="2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Times New Roman"/>
                <a:cs typeface="Times New Roman"/>
              </a:rPr>
              <a:t>Gaming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PCs</a:t>
            </a:r>
          </a:p>
          <a:p>
            <a:pPr marL="756285" marR="5715" lvl="1" indent="-287020">
              <a:lnSpc>
                <a:spcPts val="2160"/>
              </a:lnSpc>
              <a:spcBef>
                <a:spcPts val="535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spc="5" dirty="0">
                <a:latin typeface="Times New Roman"/>
                <a:cs typeface="Times New Roman"/>
              </a:rPr>
              <a:t>Due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high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resource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requirements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modern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games,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gaming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PCs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are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very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resource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demanding.</a:t>
            </a:r>
          </a:p>
          <a:p>
            <a:pPr marL="756285" marR="5715" lvl="1" indent="-287020">
              <a:lnSpc>
                <a:spcPts val="2160"/>
              </a:lnSpc>
              <a:spcBef>
                <a:spcPts val="509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few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requirements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gaming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PCs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are: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top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end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CPU,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lots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fast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RAM,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fast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disks,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performance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audio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systems.</a:t>
            </a:r>
            <a:endParaRPr sz="2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Times New Roman"/>
                <a:cs typeface="Times New Roman"/>
              </a:rPr>
              <a:t>Home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Theatre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PCs</a:t>
            </a:r>
          </a:p>
          <a:p>
            <a:pPr marL="756285" marR="8890" lvl="1" indent="-287020">
              <a:lnSpc>
                <a:spcPts val="2160"/>
              </a:lnSpc>
              <a:spcBef>
                <a:spcPts val="540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These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computers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must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able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play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various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media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formats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and,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some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cases,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TV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signals.</a:t>
            </a:r>
          </a:p>
          <a:p>
            <a:pPr marL="756285" marR="5080" lvl="1" indent="-287020">
              <a:lnSpc>
                <a:spcPts val="2160"/>
              </a:lnSpc>
              <a:spcBef>
                <a:spcPts val="495"/>
              </a:spcBef>
              <a:buFont typeface="Arial MT"/>
              <a:buChar char="•"/>
              <a:tabLst>
                <a:tab pos="756285" algn="l"/>
                <a:tab pos="756920" algn="l"/>
                <a:tab pos="1833880" algn="l"/>
                <a:tab pos="2617470" algn="l"/>
                <a:tab pos="4074160" algn="l"/>
                <a:tab pos="4953635" algn="l"/>
                <a:tab pos="6003925" algn="l"/>
                <a:tab pos="6694170" algn="l"/>
                <a:tab pos="7192645" algn="l"/>
                <a:tab pos="7968615" algn="l"/>
              </a:tabLst>
            </a:pPr>
            <a:r>
              <a:rPr sz="2000" dirty="0">
                <a:latin typeface="Times New Roman"/>
                <a:cs typeface="Times New Roman"/>
              </a:rPr>
              <a:t>Co</a:t>
            </a:r>
            <a:r>
              <a:rPr sz="2000" spc="-10" dirty="0">
                <a:latin typeface="Times New Roman"/>
                <a:cs typeface="Times New Roman"/>
              </a:rPr>
              <a:t>m</a:t>
            </a:r>
            <a:r>
              <a:rPr sz="2000" spc="-2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on	HTPC	requ</a:t>
            </a:r>
            <a:r>
              <a:rPr sz="2000" spc="-15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re</a:t>
            </a:r>
            <a:r>
              <a:rPr sz="2000" spc="-2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ents	inc</a:t>
            </a:r>
            <a:r>
              <a:rPr sz="2000" spc="-20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ude	po</a:t>
            </a:r>
            <a:r>
              <a:rPr sz="2000" spc="-10" dirty="0">
                <a:latin typeface="Times New Roman"/>
                <a:cs typeface="Times New Roman"/>
              </a:rPr>
              <a:t>w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-1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f</a:t>
            </a:r>
            <a:r>
              <a:rPr sz="2000" spc="5" dirty="0">
                <a:latin typeface="Times New Roman"/>
                <a:cs typeface="Times New Roman"/>
              </a:rPr>
              <a:t>u</a:t>
            </a:r>
            <a:r>
              <a:rPr sz="2000" dirty="0">
                <a:latin typeface="Times New Roman"/>
                <a:cs typeface="Times New Roman"/>
              </a:rPr>
              <a:t>l	CP</a:t>
            </a:r>
            <a:r>
              <a:rPr sz="2000" spc="-10" dirty="0">
                <a:latin typeface="Times New Roman"/>
                <a:cs typeface="Times New Roman"/>
              </a:rPr>
              <a:t>U</a:t>
            </a:r>
            <a:r>
              <a:rPr sz="2000" dirty="0">
                <a:latin typeface="Times New Roman"/>
                <a:cs typeface="Times New Roman"/>
              </a:rPr>
              <a:t>,	f</a:t>
            </a:r>
            <a:r>
              <a:rPr sz="2000" spc="-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st	RAM,	l</a:t>
            </a:r>
            <a:r>
              <a:rPr sz="2000" spc="-20" dirty="0">
                <a:latin typeface="Times New Roman"/>
                <a:cs typeface="Times New Roman"/>
              </a:rPr>
              <a:t>a</a:t>
            </a:r>
            <a:r>
              <a:rPr sz="2000" spc="-4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ge  disks,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fast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NIC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video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card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TV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input.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16939" y="1323670"/>
            <a:ext cx="11253470" cy="4189729"/>
            <a:chOff x="938783" y="1536153"/>
            <a:chExt cx="11253470" cy="418972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8783" y="1536153"/>
              <a:ext cx="3680460" cy="15853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8219" y="1575816"/>
              <a:ext cx="3566159" cy="457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46476" y="1581873"/>
              <a:ext cx="4488180" cy="1585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05911" y="1621536"/>
              <a:ext cx="4373880" cy="457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14688" y="1735836"/>
              <a:ext cx="2651759" cy="176783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14688" y="4027932"/>
              <a:ext cx="2877311" cy="16977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870</TotalTime>
  <Words>1333</Words>
  <Application>Microsoft Office PowerPoint</Application>
  <PresentationFormat>Widescreen</PresentationFormat>
  <Paragraphs>190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Arial MT</vt:lpstr>
      <vt:lpstr>Calibri</vt:lpstr>
      <vt:lpstr>Calibri Light</vt:lpstr>
      <vt:lpstr>Times New Roman</vt:lpstr>
      <vt:lpstr>Wingdings</vt:lpstr>
      <vt:lpstr>Office Theme</vt:lpstr>
      <vt:lpstr>Computer Hardware</vt:lpstr>
      <vt:lpstr>Module Objectives</vt:lpstr>
      <vt:lpstr>Introduction</vt:lpstr>
      <vt:lpstr>Computer Basic Operations</vt:lpstr>
      <vt:lpstr>Internal PC Components</vt:lpstr>
      <vt:lpstr>Motherboard Form Factors</vt:lpstr>
      <vt:lpstr>RAM Types</vt:lpstr>
      <vt:lpstr>RAM Types</vt:lpstr>
      <vt:lpstr>Internal PC Components (Cont.)</vt:lpstr>
      <vt:lpstr>External Ports and Cables</vt:lpstr>
      <vt:lpstr>Cases and Power Supplies</vt:lpstr>
      <vt:lpstr>Best Practices</vt:lpstr>
      <vt:lpstr>Best Practices</vt:lpstr>
      <vt:lpstr>Select PC Components</vt:lpstr>
      <vt:lpstr>Select PC Components (Cont.)</vt:lpstr>
      <vt:lpstr>Select PC Components (Cont.)</vt:lpstr>
      <vt:lpstr>Select PC Components (Cont.)</vt:lpstr>
      <vt:lpstr>Specialized Computer Systems</vt:lpstr>
      <vt:lpstr>Specialized Computer Systems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ENT2113  Analog Electronics Systems</dc:title>
  <dc:creator>Eng. Ms. Prabodhi Mithila</dc:creator>
  <cp:lastModifiedBy>Windows User</cp:lastModifiedBy>
  <cp:revision>19</cp:revision>
  <dcterms:created xsi:type="dcterms:W3CDTF">2023-03-20T06:27:43Z</dcterms:created>
  <dcterms:modified xsi:type="dcterms:W3CDTF">2023-09-08T03:36:44Z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2020-10-08T00:00:00Z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2023-03-20T00:00:00Z</vt:filetime>
  </property>
</Properties>
</file>